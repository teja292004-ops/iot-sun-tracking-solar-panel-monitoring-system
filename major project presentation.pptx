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8" r:id="rId9"/>
    <p:sldId id="266" r:id="rId10"/>
    <p:sldId id="265" r:id="rId11"/>
    <p:sldId id="264" r:id="rId12"/>
    <p:sldId id="263" r:id="rId13"/>
    <p:sldId id="267" r:id="rId14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1" d="100"/>
          <a:sy n="61" d="100"/>
        </p:scale>
        <p:origin x="-760" y="-1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269104" y="99771"/>
            <a:ext cx="3171825" cy="4832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00" b="1" i="0">
                <a:solidFill>
                  <a:srgbClr val="2C5292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2065"/>
              </a:lnSpc>
            </a:pPr>
            <a:r>
              <a:rPr spc="-60" dirty="0"/>
              <a:t>Department </a:t>
            </a:r>
            <a:r>
              <a:rPr dirty="0"/>
              <a:t>of</a:t>
            </a:r>
            <a:r>
              <a:rPr spc="85" dirty="0"/>
              <a:t> </a:t>
            </a:r>
            <a:r>
              <a:rPr spc="-25" dirty="0"/>
              <a:t>ECE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2275"/>
              </a:lnSpc>
            </a:pPr>
            <a:r>
              <a:rPr dirty="0"/>
              <a:t>S.E.A</a:t>
            </a:r>
            <a:r>
              <a:rPr spc="295" dirty="0"/>
              <a:t> </a:t>
            </a:r>
            <a:r>
              <a:rPr spc="-35" dirty="0"/>
              <a:t>COLLEGE</a:t>
            </a:r>
            <a:r>
              <a:rPr spc="-20" dirty="0"/>
              <a:t> </a:t>
            </a:r>
            <a:r>
              <a:rPr dirty="0"/>
              <a:t>OF</a:t>
            </a:r>
            <a:r>
              <a:rPr spc="-60" dirty="0"/>
              <a:t> </a:t>
            </a:r>
            <a:r>
              <a:rPr spc="-40" dirty="0"/>
              <a:t>ENGINEERING&amp;</a:t>
            </a:r>
            <a:r>
              <a:rPr spc="-85" dirty="0"/>
              <a:t> </a:t>
            </a:r>
            <a:r>
              <a:rPr spc="-10" dirty="0"/>
              <a:t>TECHNOLOGY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00" b="1" i="0">
                <a:solidFill>
                  <a:srgbClr val="2C5292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2065"/>
              </a:lnSpc>
            </a:pPr>
            <a:r>
              <a:rPr spc="-60" dirty="0"/>
              <a:t>Department </a:t>
            </a:r>
            <a:r>
              <a:rPr dirty="0"/>
              <a:t>of</a:t>
            </a:r>
            <a:r>
              <a:rPr spc="85" dirty="0"/>
              <a:t> </a:t>
            </a:r>
            <a:r>
              <a:rPr spc="-25" dirty="0"/>
              <a:t>ECE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2275"/>
              </a:lnSpc>
            </a:pPr>
            <a:r>
              <a:rPr dirty="0"/>
              <a:t>S.E.A</a:t>
            </a:r>
            <a:r>
              <a:rPr spc="295" dirty="0"/>
              <a:t> </a:t>
            </a:r>
            <a:r>
              <a:rPr spc="-35" dirty="0"/>
              <a:t>COLLEGE</a:t>
            </a:r>
            <a:r>
              <a:rPr spc="-20" dirty="0"/>
              <a:t> </a:t>
            </a:r>
            <a:r>
              <a:rPr dirty="0"/>
              <a:t>OF</a:t>
            </a:r>
            <a:r>
              <a:rPr spc="-60" dirty="0"/>
              <a:t> </a:t>
            </a:r>
            <a:r>
              <a:rPr spc="-40" dirty="0"/>
              <a:t>ENGINEERING&amp;</a:t>
            </a:r>
            <a:r>
              <a:rPr spc="-85" dirty="0"/>
              <a:t> </a:t>
            </a:r>
            <a:r>
              <a:rPr spc="-10" dirty="0"/>
              <a:t>TECHNOLOGY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00" b="1" i="0">
                <a:solidFill>
                  <a:srgbClr val="2C5292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2065"/>
              </a:lnSpc>
            </a:pPr>
            <a:r>
              <a:rPr spc="-60" dirty="0"/>
              <a:t>Department </a:t>
            </a:r>
            <a:r>
              <a:rPr dirty="0"/>
              <a:t>of</a:t>
            </a:r>
            <a:r>
              <a:rPr spc="85" dirty="0"/>
              <a:t> </a:t>
            </a:r>
            <a:r>
              <a:rPr spc="-25" dirty="0"/>
              <a:t>ECE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2275"/>
              </a:lnSpc>
            </a:pPr>
            <a:r>
              <a:rPr dirty="0"/>
              <a:t>S.E.A</a:t>
            </a:r>
            <a:r>
              <a:rPr spc="295" dirty="0"/>
              <a:t> </a:t>
            </a:r>
            <a:r>
              <a:rPr spc="-35" dirty="0"/>
              <a:t>COLLEGE</a:t>
            </a:r>
            <a:r>
              <a:rPr spc="-20" dirty="0"/>
              <a:t> </a:t>
            </a:r>
            <a:r>
              <a:rPr dirty="0"/>
              <a:t>OF</a:t>
            </a:r>
            <a:r>
              <a:rPr spc="-60" dirty="0"/>
              <a:t> </a:t>
            </a:r>
            <a:r>
              <a:rPr spc="-40" dirty="0"/>
              <a:t>ENGINEERING&amp;</a:t>
            </a:r>
            <a:r>
              <a:rPr spc="-85" dirty="0"/>
              <a:t> </a:t>
            </a:r>
            <a:r>
              <a:rPr spc="-10" dirty="0"/>
              <a:t>TECHNOLOGY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00" b="1" i="0">
                <a:solidFill>
                  <a:srgbClr val="2C5292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2065"/>
              </a:lnSpc>
            </a:pPr>
            <a:r>
              <a:rPr spc="-60" dirty="0"/>
              <a:t>Department </a:t>
            </a:r>
            <a:r>
              <a:rPr dirty="0"/>
              <a:t>of</a:t>
            </a:r>
            <a:r>
              <a:rPr spc="85" dirty="0"/>
              <a:t> </a:t>
            </a:r>
            <a:r>
              <a:rPr spc="-25" dirty="0"/>
              <a:t>ECE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2275"/>
              </a:lnSpc>
            </a:pPr>
            <a:r>
              <a:rPr dirty="0"/>
              <a:t>S.E.A</a:t>
            </a:r>
            <a:r>
              <a:rPr spc="295" dirty="0"/>
              <a:t> </a:t>
            </a:r>
            <a:r>
              <a:rPr spc="-35" dirty="0"/>
              <a:t>COLLEGE</a:t>
            </a:r>
            <a:r>
              <a:rPr spc="-20" dirty="0"/>
              <a:t> </a:t>
            </a:r>
            <a:r>
              <a:rPr dirty="0"/>
              <a:t>OF</a:t>
            </a:r>
            <a:r>
              <a:rPr spc="-60" dirty="0"/>
              <a:t> </a:t>
            </a:r>
            <a:r>
              <a:rPr spc="-40" dirty="0"/>
              <a:t>ENGINEERING&amp;</a:t>
            </a:r>
            <a:r>
              <a:rPr spc="-85" dirty="0"/>
              <a:t> </a:t>
            </a:r>
            <a:r>
              <a:rPr spc="-10" dirty="0"/>
              <a:t>TECHNOLOGY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2065"/>
              </a:lnSpc>
            </a:pPr>
            <a:r>
              <a:rPr spc="-60" dirty="0"/>
              <a:t>Department </a:t>
            </a:r>
            <a:r>
              <a:rPr dirty="0"/>
              <a:t>of</a:t>
            </a:r>
            <a:r>
              <a:rPr spc="85" dirty="0"/>
              <a:t> </a:t>
            </a:r>
            <a:r>
              <a:rPr spc="-25" dirty="0"/>
              <a:t>ECE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2275"/>
              </a:lnSpc>
            </a:pPr>
            <a:r>
              <a:rPr dirty="0"/>
              <a:t>S.E.A</a:t>
            </a:r>
            <a:r>
              <a:rPr spc="295" dirty="0"/>
              <a:t> </a:t>
            </a:r>
            <a:r>
              <a:rPr spc="-35" dirty="0"/>
              <a:t>COLLEGE</a:t>
            </a:r>
            <a:r>
              <a:rPr spc="-20" dirty="0"/>
              <a:t> </a:t>
            </a:r>
            <a:r>
              <a:rPr dirty="0"/>
              <a:t>OF</a:t>
            </a:r>
            <a:r>
              <a:rPr spc="-60" dirty="0"/>
              <a:t> </a:t>
            </a:r>
            <a:r>
              <a:rPr spc="-40" dirty="0"/>
              <a:t>ENGINEERING&amp;</a:t>
            </a:r>
            <a:r>
              <a:rPr spc="-85" dirty="0"/>
              <a:t> </a:t>
            </a:r>
            <a:r>
              <a:rPr spc="-10" dirty="0"/>
              <a:t>TECHNOLOGY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210543" y="73152"/>
            <a:ext cx="832103" cy="80772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3721608" y="6352032"/>
            <a:ext cx="1158240" cy="505459"/>
          </a:xfrm>
          <a:custGeom>
            <a:avLst/>
            <a:gdLst/>
            <a:ahLst/>
            <a:cxnLst/>
            <a:rect l="l" t="t" r="r" b="b"/>
            <a:pathLst>
              <a:path w="1158239" h="505459">
                <a:moveTo>
                  <a:pt x="1157858" y="0"/>
                </a:moveTo>
                <a:lnTo>
                  <a:pt x="251332" y="0"/>
                </a:lnTo>
                <a:lnTo>
                  <a:pt x="0" y="505357"/>
                </a:lnTo>
                <a:lnTo>
                  <a:pt x="906526" y="505357"/>
                </a:lnTo>
                <a:lnTo>
                  <a:pt x="1157858" y="0"/>
                </a:lnTo>
                <a:close/>
              </a:path>
            </a:pathLst>
          </a:custGeom>
          <a:solidFill>
            <a:srgbClr val="FFF4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2292095" y="6352032"/>
            <a:ext cx="1158240" cy="505459"/>
          </a:xfrm>
          <a:custGeom>
            <a:avLst/>
            <a:gdLst/>
            <a:ahLst/>
            <a:cxnLst/>
            <a:rect l="l" t="t" r="r" b="b"/>
            <a:pathLst>
              <a:path w="1158239" h="505459">
                <a:moveTo>
                  <a:pt x="1157858" y="0"/>
                </a:moveTo>
                <a:lnTo>
                  <a:pt x="251333" y="0"/>
                </a:lnTo>
                <a:lnTo>
                  <a:pt x="0" y="505357"/>
                </a:lnTo>
                <a:lnTo>
                  <a:pt x="906526" y="505357"/>
                </a:lnTo>
                <a:lnTo>
                  <a:pt x="1157858" y="0"/>
                </a:lnTo>
                <a:close/>
              </a:path>
            </a:pathLst>
          </a:custGeom>
          <a:solidFill>
            <a:srgbClr val="006C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4047744" y="6352031"/>
            <a:ext cx="8144509" cy="505459"/>
          </a:xfrm>
          <a:custGeom>
            <a:avLst/>
            <a:gdLst/>
            <a:ahLst/>
            <a:cxnLst/>
            <a:rect l="l" t="t" r="r" b="b"/>
            <a:pathLst>
              <a:path w="8144509" h="505459">
                <a:moveTo>
                  <a:pt x="8144002" y="0"/>
                </a:moveTo>
                <a:lnTo>
                  <a:pt x="0" y="0"/>
                </a:lnTo>
                <a:lnTo>
                  <a:pt x="0" y="505358"/>
                </a:lnTo>
                <a:lnTo>
                  <a:pt x="8144002" y="505358"/>
                </a:lnTo>
                <a:lnTo>
                  <a:pt x="8144002" y="0"/>
                </a:lnTo>
                <a:close/>
              </a:path>
            </a:pathLst>
          </a:custGeom>
          <a:solidFill>
            <a:srgbClr val="FFF4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0" y="6352031"/>
            <a:ext cx="3173095" cy="505459"/>
          </a:xfrm>
          <a:custGeom>
            <a:avLst/>
            <a:gdLst/>
            <a:ahLst/>
            <a:cxnLst/>
            <a:rect l="l" t="t" r="r" b="b"/>
            <a:pathLst>
              <a:path w="3173095" h="505459">
                <a:moveTo>
                  <a:pt x="3172587" y="0"/>
                </a:moveTo>
                <a:lnTo>
                  <a:pt x="0" y="0"/>
                </a:lnTo>
                <a:lnTo>
                  <a:pt x="0" y="505358"/>
                </a:lnTo>
                <a:lnTo>
                  <a:pt x="3172587" y="505358"/>
                </a:lnTo>
                <a:lnTo>
                  <a:pt x="3172587" y="0"/>
                </a:lnTo>
                <a:close/>
              </a:path>
            </a:pathLst>
          </a:custGeom>
          <a:solidFill>
            <a:srgbClr val="006C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895726" y="182956"/>
            <a:ext cx="6400546" cy="5600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00" b="1" i="0">
                <a:solidFill>
                  <a:srgbClr val="2C5292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53490" y="1462099"/>
            <a:ext cx="9587865" cy="1855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47827" y="6410248"/>
            <a:ext cx="1774825" cy="2787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2065"/>
              </a:lnSpc>
            </a:pPr>
            <a:r>
              <a:rPr spc="-60" dirty="0"/>
              <a:t>Department </a:t>
            </a:r>
            <a:r>
              <a:rPr dirty="0"/>
              <a:t>of</a:t>
            </a:r>
            <a:r>
              <a:rPr spc="85" dirty="0"/>
              <a:t> </a:t>
            </a:r>
            <a:r>
              <a:rPr spc="-25" dirty="0"/>
              <a:t>ECE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982083" y="6423299"/>
            <a:ext cx="5973445" cy="3060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2275"/>
              </a:lnSpc>
            </a:pPr>
            <a:r>
              <a:rPr dirty="0"/>
              <a:t>S.E.A</a:t>
            </a:r>
            <a:r>
              <a:rPr spc="295" dirty="0"/>
              <a:t> </a:t>
            </a:r>
            <a:r>
              <a:rPr spc="-35" dirty="0"/>
              <a:t>COLLEGE</a:t>
            </a:r>
            <a:r>
              <a:rPr spc="-20" dirty="0"/>
              <a:t> </a:t>
            </a:r>
            <a:r>
              <a:rPr dirty="0"/>
              <a:t>OF</a:t>
            </a:r>
            <a:r>
              <a:rPr spc="-60" dirty="0"/>
              <a:t> </a:t>
            </a:r>
            <a:r>
              <a:rPr spc="-40" dirty="0"/>
              <a:t>ENGINEERING&amp;</a:t>
            </a:r>
            <a:r>
              <a:rPr spc="-85" dirty="0"/>
              <a:t> </a:t>
            </a:r>
            <a:r>
              <a:rPr spc="-10" dirty="0"/>
              <a:t>TECHNOLOGY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5.jpeg"/><Relationship Id="rId7" Type="http://schemas.openxmlformats.org/officeDocument/2006/relationships/image" Target="../media/image9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4560" y="1180922"/>
            <a:ext cx="10285095" cy="22339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400" b="1" spc="-45" dirty="0">
                <a:latin typeface="Times New Roman"/>
                <a:cs typeface="Times New Roman"/>
              </a:rPr>
              <a:t>Department</a:t>
            </a:r>
            <a:r>
              <a:rPr sz="2400" b="1" spc="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of</a:t>
            </a:r>
            <a:r>
              <a:rPr sz="2400" b="1" spc="-6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Electronicsand</a:t>
            </a:r>
            <a:r>
              <a:rPr sz="2400" b="1" spc="-135" dirty="0">
                <a:latin typeface="Times New Roman"/>
                <a:cs typeface="Times New Roman"/>
              </a:rPr>
              <a:t> </a:t>
            </a:r>
            <a:r>
              <a:rPr sz="2400" b="1" spc="-50" dirty="0">
                <a:latin typeface="Times New Roman"/>
                <a:cs typeface="Times New Roman"/>
              </a:rPr>
              <a:t>Communication</a:t>
            </a:r>
            <a:r>
              <a:rPr sz="2400" b="1" spc="-10" dirty="0">
                <a:latin typeface="Times New Roman"/>
                <a:cs typeface="Times New Roman"/>
              </a:rPr>
              <a:t> Engineering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90"/>
              </a:spcBef>
            </a:pPr>
            <a:endParaRPr sz="2400">
              <a:latin typeface="Times New Roman"/>
              <a:cs typeface="Times New Roman"/>
            </a:endParaRPr>
          </a:p>
          <a:p>
            <a:pPr marL="12065" marR="5080" algn="ctr">
              <a:lnSpc>
                <a:spcPct val="100000"/>
              </a:lnSpc>
            </a:pPr>
            <a:r>
              <a:rPr sz="3000" b="1" dirty="0">
                <a:solidFill>
                  <a:srgbClr val="006CAC"/>
                </a:solidFill>
                <a:latin typeface="Times New Roman"/>
                <a:cs typeface="Times New Roman"/>
              </a:rPr>
              <a:t>IoT</a:t>
            </a:r>
            <a:r>
              <a:rPr sz="3000" b="1" spc="-204" dirty="0">
                <a:solidFill>
                  <a:srgbClr val="006CAC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006CAC"/>
                </a:solidFill>
                <a:latin typeface="Times New Roman"/>
                <a:cs typeface="Times New Roman"/>
              </a:rPr>
              <a:t>Based</a:t>
            </a:r>
            <a:r>
              <a:rPr sz="3000" b="1" spc="-175" dirty="0">
                <a:solidFill>
                  <a:srgbClr val="006CAC"/>
                </a:solidFill>
                <a:latin typeface="Times New Roman"/>
                <a:cs typeface="Times New Roman"/>
              </a:rPr>
              <a:t> </a:t>
            </a:r>
            <a:r>
              <a:rPr sz="3000" b="1">
                <a:solidFill>
                  <a:srgbClr val="006CAC"/>
                </a:solidFill>
                <a:latin typeface="Times New Roman"/>
                <a:cs typeface="Times New Roman"/>
              </a:rPr>
              <a:t>Sun</a:t>
            </a:r>
            <a:r>
              <a:rPr sz="3000" b="1" spc="-240">
                <a:solidFill>
                  <a:srgbClr val="006CAC"/>
                </a:solidFill>
                <a:latin typeface="Times New Roman"/>
                <a:cs typeface="Times New Roman"/>
              </a:rPr>
              <a:t> </a:t>
            </a:r>
            <a:r>
              <a:rPr sz="3000" b="1" smtClean="0">
                <a:solidFill>
                  <a:srgbClr val="006CAC"/>
                </a:solidFill>
                <a:latin typeface="Times New Roman"/>
                <a:cs typeface="Times New Roman"/>
              </a:rPr>
              <a:t>Tracking</a:t>
            </a:r>
            <a:r>
              <a:rPr lang="en-US" sz="3000" b="1" dirty="0" smtClean="0">
                <a:solidFill>
                  <a:srgbClr val="006CAC"/>
                </a:solidFill>
                <a:latin typeface="Times New Roman"/>
                <a:cs typeface="Times New Roman"/>
              </a:rPr>
              <a:t>,</a:t>
            </a:r>
            <a:r>
              <a:rPr sz="3000" b="1" spc="-45" smtClean="0">
                <a:solidFill>
                  <a:srgbClr val="006CAC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006CAC"/>
                </a:solidFill>
                <a:latin typeface="Times New Roman"/>
                <a:cs typeface="Times New Roman"/>
              </a:rPr>
              <a:t>Solar</a:t>
            </a:r>
            <a:r>
              <a:rPr sz="3000" b="1" spc="-185" dirty="0">
                <a:solidFill>
                  <a:srgbClr val="006CAC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006CAC"/>
                </a:solidFill>
                <a:latin typeface="Times New Roman"/>
                <a:cs typeface="Times New Roman"/>
              </a:rPr>
              <a:t>Panel</a:t>
            </a:r>
            <a:r>
              <a:rPr sz="3000" b="1" spc="-100" dirty="0">
                <a:solidFill>
                  <a:srgbClr val="006CAC"/>
                </a:solidFill>
                <a:latin typeface="Times New Roman"/>
                <a:cs typeface="Times New Roman"/>
              </a:rPr>
              <a:t> </a:t>
            </a:r>
            <a:r>
              <a:rPr sz="3000" b="1" spc="-20" dirty="0">
                <a:solidFill>
                  <a:srgbClr val="006CAC"/>
                </a:solidFill>
                <a:latin typeface="Times New Roman"/>
                <a:cs typeface="Times New Roman"/>
              </a:rPr>
              <a:t>Monitoring</a:t>
            </a:r>
            <a:r>
              <a:rPr sz="3000" b="1" spc="-210" dirty="0">
                <a:solidFill>
                  <a:srgbClr val="006CAC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006CAC"/>
                </a:solidFill>
                <a:latin typeface="Times New Roman"/>
                <a:cs typeface="Times New Roman"/>
              </a:rPr>
              <a:t>&amp;</a:t>
            </a:r>
            <a:r>
              <a:rPr sz="3000" b="1" spc="-140" dirty="0">
                <a:solidFill>
                  <a:srgbClr val="006CAC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006CAC"/>
                </a:solidFill>
                <a:latin typeface="Times New Roman"/>
                <a:cs typeface="Times New Roman"/>
              </a:rPr>
              <a:t>Solar</a:t>
            </a:r>
            <a:r>
              <a:rPr sz="3000" b="1" spc="-185" dirty="0">
                <a:solidFill>
                  <a:srgbClr val="006CAC"/>
                </a:solidFill>
                <a:latin typeface="Times New Roman"/>
                <a:cs typeface="Times New Roman"/>
              </a:rPr>
              <a:t> </a:t>
            </a:r>
            <a:r>
              <a:rPr sz="3000" b="1" spc="-10" dirty="0">
                <a:solidFill>
                  <a:srgbClr val="006CAC"/>
                </a:solidFill>
                <a:latin typeface="Times New Roman"/>
                <a:cs typeface="Times New Roman"/>
              </a:rPr>
              <a:t>Power Management</a:t>
            </a:r>
            <a:r>
              <a:rPr sz="3000" b="1" spc="-100" dirty="0">
                <a:solidFill>
                  <a:srgbClr val="006CAC"/>
                </a:solidFill>
                <a:latin typeface="Times New Roman"/>
                <a:cs typeface="Times New Roman"/>
              </a:rPr>
              <a:t> </a:t>
            </a:r>
            <a:r>
              <a:rPr sz="3000" b="1" spc="-10" dirty="0">
                <a:solidFill>
                  <a:srgbClr val="006CAC"/>
                </a:solidFill>
                <a:latin typeface="Times New Roman"/>
                <a:cs typeface="Times New Roman"/>
              </a:rPr>
              <a:t>System</a:t>
            </a:r>
            <a:endParaRPr sz="3000">
              <a:latin typeface="Times New Roman"/>
              <a:cs typeface="Times New Roman"/>
            </a:endParaRPr>
          </a:p>
          <a:p>
            <a:pPr marR="1019810" algn="ctr">
              <a:lnSpc>
                <a:spcPct val="100000"/>
              </a:lnSpc>
              <a:spcBef>
                <a:spcPts val="1755"/>
              </a:spcBef>
            </a:pPr>
            <a:r>
              <a:rPr sz="1800" b="1" dirty="0">
                <a:latin typeface="Times New Roman"/>
                <a:cs typeface="Times New Roman"/>
              </a:rPr>
              <a:t>PRESENTED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spc="-25" dirty="0">
                <a:latin typeface="Times New Roman"/>
                <a:cs typeface="Times New Roman"/>
              </a:rPr>
              <a:t>BY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536441" y="3479419"/>
            <a:ext cx="2144395" cy="11709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spc="-75" dirty="0">
                <a:latin typeface="Times New Roman"/>
                <a:cs typeface="Times New Roman"/>
              </a:rPr>
              <a:t>ANJALI</a:t>
            </a:r>
            <a:r>
              <a:rPr sz="1400" b="1" spc="-60" dirty="0">
                <a:latin typeface="Times New Roman"/>
                <a:cs typeface="Times New Roman"/>
              </a:rPr>
              <a:t> </a:t>
            </a:r>
            <a:r>
              <a:rPr sz="1400" b="1" spc="-50" dirty="0">
                <a:latin typeface="Times New Roman"/>
                <a:cs typeface="Times New Roman"/>
              </a:rPr>
              <a:t>M</a:t>
            </a:r>
            <a:endParaRPr sz="1400">
              <a:latin typeface="Times New Roman"/>
              <a:cs typeface="Times New Roman"/>
            </a:endParaRPr>
          </a:p>
          <a:p>
            <a:pPr marL="30480">
              <a:lnSpc>
                <a:spcPct val="100000"/>
              </a:lnSpc>
              <a:spcBef>
                <a:spcPts val="1010"/>
              </a:spcBef>
            </a:pPr>
            <a:r>
              <a:rPr sz="1400" b="1" dirty="0">
                <a:latin typeface="Times New Roman"/>
                <a:cs typeface="Times New Roman"/>
              </a:rPr>
              <a:t>D</a:t>
            </a:r>
            <a:r>
              <a:rPr sz="1400" b="1" spc="-7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N</a:t>
            </a:r>
            <a:r>
              <a:rPr sz="1400" b="1" spc="-5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CHANDANA</a:t>
            </a:r>
            <a:endParaRPr sz="1400">
              <a:latin typeface="Times New Roman"/>
              <a:cs typeface="Times New Roman"/>
            </a:endParaRPr>
          </a:p>
          <a:p>
            <a:pPr marL="24765">
              <a:lnSpc>
                <a:spcPct val="100000"/>
              </a:lnSpc>
              <a:spcBef>
                <a:spcPts val="505"/>
              </a:spcBef>
            </a:pPr>
            <a:r>
              <a:rPr sz="1400" b="1" spc="-30" dirty="0">
                <a:latin typeface="Times New Roman"/>
                <a:cs typeface="Times New Roman"/>
              </a:rPr>
              <a:t>NOTI</a:t>
            </a:r>
            <a:r>
              <a:rPr sz="1400" b="1" spc="-55" dirty="0">
                <a:latin typeface="Times New Roman"/>
                <a:cs typeface="Times New Roman"/>
              </a:rPr>
              <a:t> </a:t>
            </a:r>
            <a:r>
              <a:rPr sz="1400" b="1" spc="-30" dirty="0">
                <a:latin typeface="Times New Roman"/>
                <a:cs typeface="Times New Roman"/>
              </a:rPr>
              <a:t>HARSHAVARDHAN</a:t>
            </a:r>
            <a:endParaRPr sz="1400">
              <a:latin typeface="Times New Roman"/>
              <a:cs typeface="Times New Roman"/>
            </a:endParaRPr>
          </a:p>
          <a:p>
            <a:pPr marL="24765">
              <a:lnSpc>
                <a:spcPct val="100000"/>
              </a:lnSpc>
              <a:spcBef>
                <a:spcPts val="795"/>
              </a:spcBef>
            </a:pPr>
            <a:r>
              <a:rPr sz="1400" b="1" spc="-25" dirty="0">
                <a:latin typeface="Times New Roman"/>
                <a:cs typeface="Times New Roman"/>
              </a:rPr>
              <a:t>TEJA</a:t>
            </a:r>
            <a:r>
              <a:rPr sz="1400" b="1" spc="-65" dirty="0">
                <a:latin typeface="Times New Roman"/>
                <a:cs typeface="Times New Roman"/>
              </a:rPr>
              <a:t> </a:t>
            </a:r>
            <a:r>
              <a:rPr sz="1400" b="1" spc="-50" dirty="0">
                <a:latin typeface="Times New Roman"/>
                <a:cs typeface="Times New Roman"/>
              </a:rPr>
              <a:t>S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42101" y="3242798"/>
            <a:ext cx="1130300" cy="1358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240" marR="5080" indent="-3175" algn="just">
              <a:lnSpc>
                <a:spcPct val="156300"/>
              </a:lnSpc>
              <a:spcBef>
                <a:spcPts val="95"/>
              </a:spcBef>
            </a:pPr>
            <a:r>
              <a:rPr sz="1400" b="1" spc="-10" dirty="0">
                <a:latin typeface="Times New Roman"/>
                <a:cs typeface="Times New Roman"/>
              </a:rPr>
              <a:t>(1SP22EC005) (1SP22EC013) (1SP22EC026) (1SP22EC057)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39361" y="4779645"/>
            <a:ext cx="2953385" cy="13260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80" dirty="0">
                <a:solidFill>
                  <a:srgbClr val="C55A11"/>
                </a:solidFill>
                <a:latin typeface="Times New Roman"/>
                <a:cs typeface="Times New Roman"/>
              </a:rPr>
              <a:t>UNDER</a:t>
            </a:r>
            <a:r>
              <a:rPr sz="1800" b="1" spc="-15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C55A11"/>
                </a:solidFill>
                <a:latin typeface="Times New Roman"/>
                <a:cs typeface="Times New Roman"/>
              </a:rPr>
              <a:t>THE</a:t>
            </a:r>
            <a:r>
              <a:rPr sz="1800" b="1" spc="5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1800" b="1" spc="-40" dirty="0">
                <a:solidFill>
                  <a:srgbClr val="C55A11"/>
                </a:solidFill>
                <a:latin typeface="Times New Roman"/>
                <a:cs typeface="Times New Roman"/>
              </a:rPr>
              <a:t>GUIDANCE</a:t>
            </a:r>
            <a:r>
              <a:rPr sz="1800" b="1" spc="-65" dirty="0">
                <a:solidFill>
                  <a:srgbClr val="C55A11"/>
                </a:solidFill>
                <a:latin typeface="Times New Roman"/>
                <a:cs typeface="Times New Roman"/>
              </a:rPr>
              <a:t> </a:t>
            </a:r>
            <a:r>
              <a:rPr sz="1800" b="1" spc="-25" dirty="0">
                <a:solidFill>
                  <a:srgbClr val="C55A11"/>
                </a:solidFill>
                <a:latin typeface="Times New Roman"/>
                <a:cs typeface="Times New Roman"/>
              </a:rPr>
              <a:t>OF</a:t>
            </a:r>
            <a:endParaRPr sz="1800">
              <a:latin typeface="Times New Roman"/>
              <a:cs typeface="Times New Roman"/>
            </a:endParaRPr>
          </a:p>
          <a:p>
            <a:pPr marR="280670" algn="ctr">
              <a:lnSpc>
                <a:spcPct val="100000"/>
              </a:lnSpc>
              <a:spcBef>
                <a:spcPts val="1019"/>
              </a:spcBef>
            </a:pPr>
            <a:r>
              <a:rPr sz="1400" b="1" spc="-25" dirty="0">
                <a:latin typeface="Times New Roman"/>
                <a:cs typeface="Times New Roman"/>
              </a:rPr>
              <a:t>Mrs</a:t>
            </a:r>
            <a:r>
              <a:rPr sz="1400" b="1" spc="-13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.</a:t>
            </a:r>
            <a:r>
              <a:rPr sz="1400" b="1" spc="15" dirty="0">
                <a:latin typeface="Times New Roman"/>
                <a:cs typeface="Times New Roman"/>
              </a:rPr>
              <a:t> </a:t>
            </a:r>
            <a:r>
              <a:rPr sz="1400" b="1" spc="-40">
                <a:latin typeface="Times New Roman"/>
                <a:cs typeface="Times New Roman"/>
              </a:rPr>
              <a:t>ASHA</a:t>
            </a:r>
            <a:r>
              <a:rPr sz="1400" b="1" spc="-120">
                <a:latin typeface="Times New Roman"/>
                <a:cs typeface="Times New Roman"/>
              </a:rPr>
              <a:t> </a:t>
            </a:r>
            <a:r>
              <a:rPr sz="1400" b="1" spc="-25" smtClean="0">
                <a:latin typeface="Times New Roman"/>
                <a:cs typeface="Times New Roman"/>
              </a:rPr>
              <a:t>V</a:t>
            </a:r>
            <a:r>
              <a:rPr lang="en-US" sz="1400" b="1" spc="-25" dirty="0" smtClean="0">
                <a:latin typeface="Times New Roman"/>
                <a:cs typeface="Times New Roman"/>
              </a:rPr>
              <a:t> </a:t>
            </a:r>
            <a:r>
              <a:rPr sz="1400" b="1" spc="-25" smtClean="0">
                <a:latin typeface="Times New Roman"/>
                <a:cs typeface="Times New Roman"/>
              </a:rPr>
              <a:t>K</a:t>
            </a:r>
            <a:r>
              <a:rPr lang="en-US" sz="1400" b="1" spc="-25" dirty="0" smtClean="0">
                <a:latin typeface="Times New Roman"/>
                <a:cs typeface="Times New Roman"/>
              </a:rPr>
              <a:t> </a:t>
            </a:r>
            <a:r>
              <a:rPr sz="1400" b="1" spc="-25" smtClean="0">
                <a:latin typeface="Times New Roman"/>
                <a:cs typeface="Times New Roman"/>
              </a:rPr>
              <a:t>R</a:t>
            </a:r>
            <a:endParaRPr sz="1400">
              <a:latin typeface="Times New Roman"/>
              <a:cs typeface="Times New Roman"/>
            </a:endParaRPr>
          </a:p>
          <a:p>
            <a:pPr marL="829310" marR="1075690" algn="ctr">
              <a:lnSpc>
                <a:spcPts val="2710"/>
              </a:lnSpc>
            </a:pPr>
            <a:r>
              <a:rPr sz="1400" spc="-55" dirty="0">
                <a:latin typeface="Times New Roman"/>
                <a:cs typeface="Times New Roman"/>
              </a:rPr>
              <a:t>Asst.</a:t>
            </a:r>
            <a:r>
              <a:rPr sz="140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Professor </a:t>
            </a:r>
            <a:r>
              <a:rPr sz="1400" spc="-50" dirty="0">
                <a:latin typeface="Times New Roman"/>
                <a:cs typeface="Times New Roman"/>
              </a:rPr>
              <a:t>Dept</a:t>
            </a:r>
            <a:r>
              <a:rPr sz="1400" spc="-50">
                <a:latin typeface="Times New Roman"/>
                <a:cs typeface="Times New Roman"/>
              </a:rPr>
              <a:t>.</a:t>
            </a:r>
            <a:r>
              <a:rPr sz="1400" spc="-150">
                <a:latin typeface="Times New Roman"/>
                <a:cs typeface="Times New Roman"/>
              </a:rPr>
              <a:t> </a:t>
            </a:r>
            <a:r>
              <a:rPr sz="1400" smtClean="0">
                <a:latin typeface="Times New Roman"/>
                <a:cs typeface="Times New Roman"/>
              </a:rPr>
              <a:t>of</a:t>
            </a:r>
            <a:r>
              <a:rPr lang="en-US" sz="1400" dirty="0" smtClean="0">
                <a:latin typeface="Times New Roman"/>
                <a:cs typeface="Times New Roman"/>
              </a:rPr>
              <a:t> </a:t>
            </a:r>
            <a:r>
              <a:rPr sz="1400" spc="-60" smtClean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ECE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-6350" y="956819"/>
            <a:ext cx="12204700" cy="58419"/>
            <a:chOff x="-6350" y="956819"/>
            <a:chExt cx="12204700" cy="58419"/>
          </a:xfrm>
        </p:grpSpPr>
        <p:sp>
          <p:nvSpPr>
            <p:cNvPr id="7" name="object 7"/>
            <p:cNvSpPr/>
            <p:nvPr/>
          </p:nvSpPr>
          <p:spPr>
            <a:xfrm>
              <a:off x="0" y="963169"/>
              <a:ext cx="12192000" cy="45720"/>
            </a:xfrm>
            <a:custGeom>
              <a:avLst/>
              <a:gdLst/>
              <a:ahLst/>
              <a:cxnLst/>
              <a:rect l="l" t="t" r="r" b="b"/>
              <a:pathLst>
                <a:path w="12192000" h="45719">
                  <a:moveTo>
                    <a:pt x="12192000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12192000" y="45718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963169"/>
              <a:ext cx="12192000" cy="45720"/>
            </a:xfrm>
            <a:custGeom>
              <a:avLst/>
              <a:gdLst/>
              <a:ahLst/>
              <a:cxnLst/>
              <a:rect l="l" t="t" r="r" b="b"/>
              <a:pathLst>
                <a:path w="12192000" h="45719">
                  <a:moveTo>
                    <a:pt x="0" y="45718"/>
                  </a:moveTo>
                  <a:lnTo>
                    <a:pt x="12192000" y="45718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45718"/>
                  </a:lnTo>
                  <a:close/>
                </a:path>
              </a:pathLst>
            </a:custGeom>
            <a:ln w="12192">
              <a:solidFill>
                <a:srgbClr val="00AC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354074" y="-52959"/>
            <a:ext cx="8947150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2669" algn="l"/>
              </a:tabLst>
            </a:pPr>
            <a:r>
              <a:rPr sz="2800" spc="-10" dirty="0">
                <a:solidFill>
                  <a:srgbClr val="0033CC"/>
                </a:solidFill>
              </a:rPr>
              <a:t>S.E.A</a:t>
            </a:r>
            <a:r>
              <a:rPr sz="2800" dirty="0">
                <a:solidFill>
                  <a:srgbClr val="0033CC"/>
                </a:solidFill>
              </a:rPr>
              <a:t>	</a:t>
            </a:r>
            <a:r>
              <a:rPr sz="2800" spc="-50" dirty="0">
                <a:solidFill>
                  <a:srgbClr val="0033CC"/>
                </a:solidFill>
              </a:rPr>
              <a:t>COLLEGE</a:t>
            </a:r>
            <a:r>
              <a:rPr sz="2800" spc="-245" dirty="0">
                <a:solidFill>
                  <a:srgbClr val="0033CC"/>
                </a:solidFill>
              </a:rPr>
              <a:t> </a:t>
            </a:r>
            <a:r>
              <a:rPr sz="2800" spc="-25" dirty="0">
                <a:solidFill>
                  <a:srgbClr val="0033CC"/>
                </a:solidFill>
              </a:rPr>
              <a:t>OF</a:t>
            </a:r>
            <a:r>
              <a:rPr sz="2800" spc="-229" dirty="0">
                <a:solidFill>
                  <a:srgbClr val="0033CC"/>
                </a:solidFill>
              </a:rPr>
              <a:t> </a:t>
            </a:r>
            <a:r>
              <a:rPr sz="2800" spc="-40" dirty="0">
                <a:solidFill>
                  <a:srgbClr val="0033CC"/>
                </a:solidFill>
              </a:rPr>
              <a:t>ENGINEERING</a:t>
            </a:r>
            <a:r>
              <a:rPr sz="2800" spc="-165" dirty="0">
                <a:solidFill>
                  <a:srgbClr val="0033CC"/>
                </a:solidFill>
              </a:rPr>
              <a:t> </a:t>
            </a:r>
            <a:r>
              <a:rPr sz="2800" dirty="0">
                <a:solidFill>
                  <a:srgbClr val="0033CC"/>
                </a:solidFill>
              </a:rPr>
              <a:t>&amp; </a:t>
            </a:r>
            <a:r>
              <a:rPr sz="2800" spc="-10" dirty="0">
                <a:solidFill>
                  <a:srgbClr val="0033CC"/>
                </a:solidFill>
              </a:rPr>
              <a:t>TECHNOLOGY</a:t>
            </a:r>
            <a:endParaRPr sz="2800"/>
          </a:p>
        </p:txBody>
      </p:sp>
      <p:sp>
        <p:nvSpPr>
          <p:cNvPr id="10" name="object 10"/>
          <p:cNvSpPr txBox="1"/>
          <p:nvPr/>
        </p:nvSpPr>
        <p:spPr>
          <a:xfrm>
            <a:off x="2501900" y="452538"/>
            <a:ext cx="6647815" cy="47752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290195">
              <a:lnSpc>
                <a:spcPct val="100000"/>
              </a:lnSpc>
              <a:spcBef>
                <a:spcPts val="200"/>
              </a:spcBef>
            </a:pPr>
            <a:r>
              <a:rPr sz="1400" spc="-45" dirty="0">
                <a:latin typeface="Times New Roman"/>
                <a:cs typeface="Times New Roman"/>
              </a:rPr>
              <a:t>EKTANagar,NearAyyappa</a:t>
            </a:r>
            <a:r>
              <a:rPr sz="1400" spc="19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Nagar</a:t>
            </a:r>
            <a:r>
              <a:rPr sz="1400" spc="114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Circle,Devasanda</a:t>
            </a:r>
            <a:r>
              <a:rPr sz="1400" spc="1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Main</a:t>
            </a:r>
            <a:r>
              <a:rPr sz="1400" spc="75" dirty="0">
                <a:latin typeface="Times New Roman"/>
                <a:cs typeface="Times New Roman"/>
              </a:rPr>
              <a:t> </a:t>
            </a:r>
            <a:r>
              <a:rPr sz="1400" spc="-70" dirty="0">
                <a:latin typeface="Times New Roman"/>
                <a:cs typeface="Times New Roman"/>
              </a:rPr>
              <a:t>Road,K.R.Puram,Bangalore-</a:t>
            </a:r>
            <a:r>
              <a:rPr sz="1400" spc="-25" dirty="0">
                <a:latin typeface="Times New Roman"/>
                <a:cs typeface="Times New Roman"/>
              </a:rPr>
              <a:t>49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35" dirty="0">
                <a:latin typeface="Times New Roman"/>
                <a:cs typeface="Times New Roman"/>
              </a:rPr>
              <a:t>Affliatedto</a:t>
            </a:r>
            <a:r>
              <a:rPr sz="1400" b="1" spc="-114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VTU,BelgaviandApproved</a:t>
            </a:r>
            <a:r>
              <a:rPr sz="1400" b="1" spc="55" dirty="0">
                <a:latin typeface="Times New Roman"/>
                <a:cs typeface="Times New Roman"/>
              </a:rPr>
              <a:t> </a:t>
            </a:r>
            <a:r>
              <a:rPr sz="1400" b="1" spc="-30" dirty="0">
                <a:latin typeface="Times New Roman"/>
                <a:cs typeface="Times New Roman"/>
              </a:rPr>
              <a:t>by</a:t>
            </a:r>
            <a:r>
              <a:rPr sz="1400" b="1" spc="-23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AICTE,New</a:t>
            </a:r>
            <a:r>
              <a:rPr sz="1400" b="1" spc="16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Delhi</a:t>
            </a:r>
            <a:r>
              <a:rPr sz="1400" b="1" spc="-55" dirty="0">
                <a:latin typeface="Times New Roman"/>
                <a:cs typeface="Times New Roman"/>
              </a:rPr>
              <a:t> </a:t>
            </a:r>
            <a:r>
              <a:rPr sz="1400" b="1" spc="-40" dirty="0">
                <a:latin typeface="Times New Roman"/>
                <a:cs typeface="Times New Roman"/>
              </a:rPr>
              <a:t>and</a:t>
            </a:r>
            <a:r>
              <a:rPr sz="1400" b="1" spc="-190" dirty="0">
                <a:latin typeface="Times New Roman"/>
                <a:cs typeface="Times New Roman"/>
              </a:rPr>
              <a:t> </a:t>
            </a:r>
            <a:r>
              <a:rPr sz="1400" b="1" spc="-30" dirty="0">
                <a:latin typeface="Times New Roman"/>
                <a:cs typeface="Times New Roman"/>
              </a:rPr>
              <a:t>AccreditatedB++</a:t>
            </a:r>
            <a:r>
              <a:rPr sz="1400" b="1" spc="15" dirty="0">
                <a:latin typeface="Times New Roman"/>
                <a:cs typeface="Times New Roman"/>
              </a:rPr>
              <a:t> </a:t>
            </a:r>
            <a:r>
              <a:rPr sz="1400" b="1" spc="-20" dirty="0">
                <a:latin typeface="Times New Roman"/>
                <a:cs typeface="Times New Roman"/>
              </a:rPr>
              <a:t>NAAC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73968" y="54864"/>
            <a:ext cx="877824" cy="86563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0" y="6400800"/>
            <a:ext cx="304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0" lvl="0" indent="0" algn="ctr" defTabSz="914400" eaLnBrk="1" fontAlgn="auto" latinLnBrk="0" hangingPunct="1">
              <a:lnSpc>
                <a:spcPts val="206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-6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Department </a:t>
            </a: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of</a:t>
            </a:r>
            <a:r>
              <a:rPr kumimoji="0" lang="en-US" sz="1800" b="0" i="0" u="none" strike="noStrike" kern="0" cap="none" spc="85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lang="en-US" sz="1800" b="0" i="0" u="none" strike="noStrike" kern="0" cap="none" spc="-25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ECE</a:t>
            </a:r>
            <a:endParaRPr kumimoji="0" lang="en-US" sz="1800" b="0" i="0" u="none" strike="noStrike" kern="0" cap="none" spc="-2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953000" y="6400800"/>
            <a:ext cx="5809924" cy="367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>
              <a:lnSpc>
                <a:spcPts val="2275"/>
              </a:lnSpc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S.E.A</a:t>
            </a:r>
            <a:r>
              <a:rPr lang="en-US" spc="29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pc="-35" dirty="0" smtClean="0">
                <a:latin typeface="Times New Roman" pitchFamily="18" charset="0"/>
                <a:cs typeface="Times New Roman" pitchFamily="18" charset="0"/>
              </a:rPr>
              <a:t>COLLEGE</a:t>
            </a:r>
            <a:r>
              <a:rPr lang="en-US" spc="-2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OF</a:t>
            </a:r>
            <a:r>
              <a:rPr lang="en-US" spc="-6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pc="-40" dirty="0" smtClean="0">
                <a:latin typeface="Times New Roman" pitchFamily="18" charset="0"/>
                <a:cs typeface="Times New Roman" pitchFamily="18" charset="0"/>
              </a:rPr>
              <a:t>ENGINEERING &amp;</a:t>
            </a:r>
            <a:r>
              <a:rPr lang="en-US" spc="-8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pc="-10" dirty="0" smtClean="0">
                <a:latin typeface="Times New Roman" pitchFamily="18" charset="0"/>
                <a:cs typeface="Times New Roman" pitchFamily="18" charset="0"/>
              </a:rPr>
              <a:t>TECHNOLOGY</a:t>
            </a:r>
            <a:endParaRPr lang="en-US" spc="-1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095" y="0"/>
            <a:ext cx="12204700" cy="1015365"/>
            <a:chOff x="-6095" y="0"/>
            <a:chExt cx="12204700" cy="1015365"/>
          </a:xfrm>
        </p:grpSpPr>
        <p:sp>
          <p:nvSpPr>
            <p:cNvPr id="3" name="object 3"/>
            <p:cNvSpPr/>
            <p:nvPr/>
          </p:nvSpPr>
          <p:spPr>
            <a:xfrm>
              <a:off x="0" y="963169"/>
              <a:ext cx="12192000" cy="45720"/>
            </a:xfrm>
            <a:custGeom>
              <a:avLst/>
              <a:gdLst/>
              <a:ahLst/>
              <a:cxnLst/>
              <a:rect l="l" t="t" r="r" b="b"/>
              <a:pathLst>
                <a:path w="12192000" h="45719">
                  <a:moveTo>
                    <a:pt x="12192000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12192000" y="45718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963169"/>
              <a:ext cx="12192000" cy="45720"/>
            </a:xfrm>
            <a:custGeom>
              <a:avLst/>
              <a:gdLst/>
              <a:ahLst/>
              <a:cxnLst/>
              <a:rect l="l" t="t" r="r" b="b"/>
              <a:pathLst>
                <a:path w="12192000" h="45719">
                  <a:moveTo>
                    <a:pt x="0" y="45718"/>
                  </a:moveTo>
                  <a:lnTo>
                    <a:pt x="12192000" y="45718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45718"/>
                  </a:lnTo>
                  <a:close/>
                </a:path>
              </a:pathLst>
            </a:custGeom>
            <a:ln w="12192">
              <a:solidFill>
                <a:srgbClr val="00AC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37392" y="0"/>
              <a:ext cx="972311" cy="923544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831085" y="1390546"/>
            <a:ext cx="2056764" cy="1883410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marL="286385" indent="-273685">
              <a:lnSpc>
                <a:spcPct val="100000"/>
              </a:lnSpc>
              <a:spcBef>
                <a:spcPts val="1110"/>
              </a:spcBef>
              <a:buFont typeface="Arial MT"/>
              <a:buChar char="•"/>
              <a:tabLst>
                <a:tab pos="286385" algn="l"/>
              </a:tabLst>
            </a:pPr>
            <a:r>
              <a:rPr sz="1600" spc="-30" dirty="0">
                <a:latin typeface="Times New Roman"/>
                <a:cs typeface="Times New Roman"/>
              </a:rPr>
              <a:t>Problem</a:t>
            </a:r>
            <a:r>
              <a:rPr sz="1600" spc="-6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Statement</a:t>
            </a:r>
            <a:endParaRPr sz="1600">
              <a:latin typeface="Times New Roman"/>
              <a:cs typeface="Times New Roman"/>
            </a:endParaRPr>
          </a:p>
          <a:p>
            <a:pPr marL="286385" indent="-273685">
              <a:lnSpc>
                <a:spcPct val="100000"/>
              </a:lnSpc>
              <a:spcBef>
                <a:spcPts val="1010"/>
              </a:spcBef>
              <a:buFont typeface="Arial MT"/>
              <a:buChar char="•"/>
              <a:tabLst>
                <a:tab pos="286385" algn="l"/>
              </a:tabLst>
            </a:pPr>
            <a:r>
              <a:rPr sz="1600" spc="-10" dirty="0">
                <a:latin typeface="Times New Roman"/>
                <a:cs typeface="Times New Roman"/>
              </a:rPr>
              <a:t>Introduction</a:t>
            </a:r>
            <a:endParaRPr sz="1600">
              <a:latin typeface="Times New Roman"/>
              <a:cs typeface="Times New Roman"/>
            </a:endParaRPr>
          </a:p>
          <a:p>
            <a:pPr marL="286385" indent="-273685">
              <a:lnSpc>
                <a:spcPct val="100000"/>
              </a:lnSpc>
              <a:spcBef>
                <a:spcPts val="1010"/>
              </a:spcBef>
              <a:buFont typeface="Arial MT"/>
              <a:buChar char="•"/>
              <a:tabLst>
                <a:tab pos="286385" algn="l"/>
              </a:tabLst>
            </a:pPr>
            <a:r>
              <a:rPr sz="1600" spc="-30" dirty="0">
                <a:latin typeface="Times New Roman"/>
                <a:cs typeface="Times New Roman"/>
              </a:rPr>
              <a:t>Literature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Survey</a:t>
            </a:r>
            <a:endParaRPr sz="1600">
              <a:latin typeface="Times New Roman"/>
              <a:cs typeface="Times New Roman"/>
            </a:endParaRPr>
          </a:p>
          <a:p>
            <a:pPr marL="286385" indent="-273685">
              <a:lnSpc>
                <a:spcPct val="100000"/>
              </a:lnSpc>
              <a:spcBef>
                <a:spcPts val="985"/>
              </a:spcBef>
              <a:buFont typeface="Arial MT"/>
              <a:buChar char="•"/>
              <a:tabLst>
                <a:tab pos="286385" algn="l"/>
              </a:tabLst>
            </a:pPr>
            <a:r>
              <a:rPr sz="1600" spc="-10" dirty="0">
                <a:latin typeface="Times New Roman"/>
                <a:cs typeface="Times New Roman"/>
              </a:rPr>
              <a:t>Methodology</a:t>
            </a:r>
            <a:endParaRPr sz="1600">
              <a:latin typeface="Times New Roman"/>
              <a:cs typeface="Times New Roman"/>
            </a:endParaRPr>
          </a:p>
          <a:p>
            <a:pPr marL="286385" indent="-273685">
              <a:lnSpc>
                <a:spcPct val="100000"/>
              </a:lnSpc>
              <a:spcBef>
                <a:spcPts val="1010"/>
              </a:spcBef>
              <a:buFont typeface="Arial MT"/>
              <a:buChar char="•"/>
              <a:tabLst>
                <a:tab pos="286385" algn="l"/>
              </a:tabLst>
            </a:pPr>
            <a:r>
              <a:rPr sz="1600" spc="-10" dirty="0">
                <a:latin typeface="Times New Roman"/>
                <a:cs typeface="Times New Roman"/>
              </a:rPr>
              <a:t>Observation</a:t>
            </a:r>
            <a:r>
              <a:rPr sz="1600" spc="-9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&amp;</a:t>
            </a:r>
            <a:r>
              <a:rPr sz="1600" spc="-10" dirty="0">
                <a:latin typeface="Times New Roman"/>
                <a:cs typeface="Times New Roman"/>
              </a:rPr>
              <a:t> Result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65"/>
              </a:lnSpc>
            </a:pPr>
            <a:r>
              <a:rPr spc="-60" dirty="0"/>
              <a:t>Department </a:t>
            </a:r>
            <a:r>
              <a:rPr dirty="0"/>
              <a:t>of</a:t>
            </a:r>
            <a:r>
              <a:rPr spc="85" dirty="0"/>
              <a:t> </a:t>
            </a:r>
            <a:r>
              <a:rPr spc="-25" dirty="0"/>
              <a:t>ECE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xfrm>
            <a:off x="4982083" y="6423299"/>
            <a:ext cx="6447917" cy="3060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75"/>
              </a:lnSpc>
            </a:pPr>
            <a:r>
              <a:rPr dirty="0"/>
              <a:t>S.E.A</a:t>
            </a:r>
            <a:r>
              <a:rPr spc="295" dirty="0"/>
              <a:t> </a:t>
            </a:r>
            <a:r>
              <a:rPr spc="-35" dirty="0"/>
              <a:t>COLLEGE</a:t>
            </a:r>
            <a:r>
              <a:rPr spc="-20" dirty="0"/>
              <a:t> </a:t>
            </a:r>
            <a:r>
              <a:rPr/>
              <a:t>OF</a:t>
            </a:r>
            <a:r>
              <a:rPr spc="-60"/>
              <a:t> </a:t>
            </a:r>
            <a:r>
              <a:rPr spc="-40" smtClean="0"/>
              <a:t>ENGINEERING</a:t>
            </a:r>
            <a:r>
              <a:rPr lang="en-US" spc="-40" dirty="0" smtClean="0"/>
              <a:t> </a:t>
            </a:r>
            <a:r>
              <a:rPr spc="-40" smtClean="0"/>
              <a:t>&amp;</a:t>
            </a:r>
            <a:r>
              <a:rPr spc="-85" smtClean="0"/>
              <a:t> </a:t>
            </a:r>
            <a:r>
              <a:rPr spc="-10" dirty="0"/>
              <a:t>TECHNOLOGY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616075">
              <a:lnSpc>
                <a:spcPct val="100000"/>
              </a:lnSpc>
              <a:spcBef>
                <a:spcPts val="105"/>
              </a:spcBef>
            </a:pPr>
            <a:r>
              <a:rPr spc="-10" dirty="0">
                <a:solidFill>
                  <a:srgbClr val="1F4679"/>
                </a:solidFill>
              </a:rPr>
              <a:t>CONTENT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095" y="0"/>
            <a:ext cx="12204700" cy="1015365"/>
            <a:chOff x="-6095" y="0"/>
            <a:chExt cx="12204700" cy="1015365"/>
          </a:xfrm>
        </p:grpSpPr>
        <p:sp>
          <p:nvSpPr>
            <p:cNvPr id="3" name="object 3"/>
            <p:cNvSpPr/>
            <p:nvPr/>
          </p:nvSpPr>
          <p:spPr>
            <a:xfrm>
              <a:off x="0" y="963169"/>
              <a:ext cx="12192000" cy="45720"/>
            </a:xfrm>
            <a:custGeom>
              <a:avLst/>
              <a:gdLst/>
              <a:ahLst/>
              <a:cxnLst/>
              <a:rect l="l" t="t" r="r" b="b"/>
              <a:pathLst>
                <a:path w="12192000" h="45719">
                  <a:moveTo>
                    <a:pt x="12192000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12192000" y="45718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963169"/>
              <a:ext cx="12192000" cy="45720"/>
            </a:xfrm>
            <a:custGeom>
              <a:avLst/>
              <a:gdLst/>
              <a:ahLst/>
              <a:cxnLst/>
              <a:rect l="l" t="t" r="r" b="b"/>
              <a:pathLst>
                <a:path w="12192000" h="45719">
                  <a:moveTo>
                    <a:pt x="0" y="45718"/>
                  </a:moveTo>
                  <a:lnTo>
                    <a:pt x="12192000" y="45718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45718"/>
                  </a:lnTo>
                  <a:close/>
                </a:path>
              </a:pathLst>
            </a:custGeom>
            <a:ln w="12192">
              <a:solidFill>
                <a:srgbClr val="00AC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37392" y="0"/>
              <a:ext cx="972311" cy="923544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4798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1F4679"/>
                </a:solidFill>
              </a:rPr>
              <a:t>PROBLEM</a:t>
            </a:r>
            <a:r>
              <a:rPr spc="-130" dirty="0">
                <a:solidFill>
                  <a:srgbClr val="1F4679"/>
                </a:solidFill>
              </a:rPr>
              <a:t> </a:t>
            </a:r>
            <a:r>
              <a:rPr spc="-10" dirty="0">
                <a:solidFill>
                  <a:srgbClr val="1F4679"/>
                </a:solidFill>
              </a:rPr>
              <a:t>STATEMENT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65"/>
              </a:lnSpc>
            </a:pPr>
            <a:r>
              <a:rPr spc="-60" dirty="0"/>
              <a:t>Department </a:t>
            </a:r>
            <a:r>
              <a:rPr dirty="0"/>
              <a:t>of</a:t>
            </a:r>
            <a:r>
              <a:rPr spc="85" dirty="0"/>
              <a:t> </a:t>
            </a:r>
            <a:r>
              <a:rPr spc="-25" dirty="0"/>
              <a:t>ECE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xfrm>
            <a:off x="4982083" y="6423299"/>
            <a:ext cx="6295517" cy="3060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75"/>
              </a:lnSpc>
            </a:pPr>
            <a:r>
              <a:rPr dirty="0"/>
              <a:t>S.E.A</a:t>
            </a:r>
            <a:r>
              <a:rPr spc="295" dirty="0"/>
              <a:t> </a:t>
            </a:r>
            <a:r>
              <a:rPr spc="-35" dirty="0"/>
              <a:t>COLLEGE</a:t>
            </a:r>
            <a:r>
              <a:rPr spc="-20" dirty="0"/>
              <a:t> </a:t>
            </a:r>
            <a:r>
              <a:rPr/>
              <a:t>OF</a:t>
            </a:r>
            <a:r>
              <a:rPr spc="-60"/>
              <a:t> </a:t>
            </a:r>
            <a:r>
              <a:rPr spc="-40" smtClean="0"/>
              <a:t>ENGINEERING</a:t>
            </a:r>
            <a:r>
              <a:rPr lang="en-US" spc="-40" dirty="0" smtClean="0"/>
              <a:t> </a:t>
            </a:r>
            <a:r>
              <a:rPr spc="-40" smtClean="0"/>
              <a:t>&amp;</a:t>
            </a:r>
            <a:r>
              <a:rPr spc="-85" smtClean="0"/>
              <a:t> </a:t>
            </a:r>
            <a:r>
              <a:rPr spc="-10" dirty="0"/>
              <a:t>TECHNOLOGY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40130" y="1581837"/>
            <a:ext cx="10321925" cy="18548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50100"/>
              </a:lnSpc>
              <a:spcBef>
                <a:spcPts val="90"/>
              </a:spcBef>
            </a:pPr>
            <a:r>
              <a:rPr sz="1600" dirty="0">
                <a:latin typeface="Times New Roman"/>
                <a:cs typeface="Times New Roman"/>
              </a:rPr>
              <a:t>Conventional</a:t>
            </a:r>
            <a:r>
              <a:rPr sz="1600" spc="2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solar</a:t>
            </a:r>
            <a:r>
              <a:rPr sz="1600" spc="229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panels</a:t>
            </a:r>
            <a:r>
              <a:rPr sz="1600" spc="2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are</a:t>
            </a:r>
            <a:r>
              <a:rPr sz="1600" spc="2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fixed</a:t>
            </a:r>
            <a:r>
              <a:rPr sz="1600" spc="2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</a:t>
            </a:r>
            <a:r>
              <a:rPr sz="1600" spc="229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one</a:t>
            </a:r>
            <a:r>
              <a:rPr sz="1600" spc="204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position,</a:t>
            </a:r>
            <a:r>
              <a:rPr sz="1600" spc="229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resulting</a:t>
            </a:r>
            <a:r>
              <a:rPr sz="1600" spc="2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</a:t>
            </a:r>
            <a:r>
              <a:rPr sz="1600" spc="2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2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significant</a:t>
            </a:r>
            <a:r>
              <a:rPr sz="1600" spc="2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loss</a:t>
            </a:r>
            <a:r>
              <a:rPr sz="1600" spc="2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2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potential</a:t>
            </a:r>
            <a:r>
              <a:rPr sz="1600" spc="2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energy</a:t>
            </a:r>
            <a:r>
              <a:rPr sz="1600" spc="2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due</a:t>
            </a:r>
            <a:r>
              <a:rPr sz="1600" spc="2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18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204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varying </a:t>
            </a:r>
            <a:r>
              <a:rPr sz="1600" dirty="0">
                <a:latin typeface="Times New Roman"/>
                <a:cs typeface="Times New Roman"/>
              </a:rPr>
              <a:t>angle</a:t>
            </a:r>
            <a:r>
              <a:rPr sz="1600" spc="2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2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sunlight</a:t>
            </a:r>
            <a:r>
              <a:rPr sz="1600" spc="27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throughout</a:t>
            </a:r>
            <a:r>
              <a:rPr sz="1600" spc="2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2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day.</a:t>
            </a:r>
            <a:r>
              <a:rPr sz="1600" spc="29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Additionally,</a:t>
            </a:r>
            <a:r>
              <a:rPr sz="1600" spc="28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users</a:t>
            </a:r>
            <a:r>
              <a:rPr sz="1600" spc="254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lack</a:t>
            </a:r>
            <a:r>
              <a:rPr sz="1600" spc="2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2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means</a:t>
            </a:r>
            <a:r>
              <a:rPr sz="1600" spc="2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2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monitor</a:t>
            </a:r>
            <a:r>
              <a:rPr sz="1600" spc="2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system</a:t>
            </a:r>
            <a:r>
              <a:rPr sz="1600" spc="254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performance</a:t>
            </a:r>
            <a:r>
              <a:rPr sz="1600" spc="229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</a:t>
            </a:r>
            <a:r>
              <a:rPr sz="1600" spc="250" dirty="0">
                <a:latin typeface="Times New Roman"/>
                <a:cs typeface="Times New Roman"/>
              </a:rPr>
              <a:t> </a:t>
            </a:r>
            <a:r>
              <a:rPr sz="1600" spc="-45" dirty="0">
                <a:latin typeface="Times New Roman"/>
                <a:cs typeface="Times New Roman"/>
              </a:rPr>
              <a:t>real-</a:t>
            </a:r>
            <a:r>
              <a:rPr sz="1600" dirty="0">
                <a:latin typeface="Times New Roman"/>
                <a:cs typeface="Times New Roman"/>
              </a:rPr>
              <a:t>time</a:t>
            </a:r>
            <a:r>
              <a:rPr sz="1600" spc="24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or </a:t>
            </a:r>
            <a:r>
              <a:rPr sz="1600" dirty="0">
                <a:latin typeface="Times New Roman"/>
                <a:cs typeface="Times New Roman"/>
              </a:rPr>
              <a:t>detect</a:t>
            </a:r>
            <a:r>
              <a:rPr sz="1600" spc="3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faults</a:t>
            </a:r>
            <a:r>
              <a:rPr sz="1600" spc="3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without</a:t>
            </a:r>
            <a:r>
              <a:rPr sz="1600" spc="3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manual</a:t>
            </a:r>
            <a:r>
              <a:rPr sz="1600" spc="3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inspection.</a:t>
            </a:r>
            <a:r>
              <a:rPr sz="1600" spc="3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This</a:t>
            </a:r>
            <a:r>
              <a:rPr sz="1600" spc="3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leads</a:t>
            </a:r>
            <a:r>
              <a:rPr sz="1600" spc="3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3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inefficiencies,</a:t>
            </a:r>
            <a:r>
              <a:rPr sz="1600" spc="3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higher</a:t>
            </a:r>
            <a:r>
              <a:rPr sz="1600" spc="3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maintenance</a:t>
            </a:r>
            <a:r>
              <a:rPr sz="1600" spc="3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costs,</a:t>
            </a:r>
            <a:r>
              <a:rPr sz="1600" spc="3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3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underutilization</a:t>
            </a:r>
            <a:r>
              <a:rPr sz="1600" spc="37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of </a:t>
            </a:r>
            <a:r>
              <a:rPr sz="1600" dirty="0">
                <a:latin typeface="Times New Roman"/>
                <a:cs typeface="Times New Roman"/>
              </a:rPr>
              <a:t>available</a:t>
            </a:r>
            <a:r>
              <a:rPr sz="1600" spc="229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solar</a:t>
            </a:r>
            <a:r>
              <a:rPr sz="1600" spc="2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resources.</a:t>
            </a:r>
            <a:r>
              <a:rPr sz="1600" spc="27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204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smarter</a:t>
            </a:r>
            <a:r>
              <a:rPr sz="1600" spc="2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system</a:t>
            </a:r>
            <a:r>
              <a:rPr sz="1600" spc="2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is</a:t>
            </a:r>
            <a:r>
              <a:rPr sz="1600" spc="2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needed</a:t>
            </a:r>
            <a:r>
              <a:rPr sz="1600" spc="2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that</a:t>
            </a:r>
            <a:r>
              <a:rPr sz="1600" spc="2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can</a:t>
            </a:r>
            <a:r>
              <a:rPr sz="1600" spc="229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adapt</a:t>
            </a:r>
            <a:r>
              <a:rPr sz="1600" spc="2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204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sunlight</a:t>
            </a:r>
            <a:r>
              <a:rPr sz="1600" spc="2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direction,</a:t>
            </a:r>
            <a:r>
              <a:rPr sz="1600" spc="254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monitor</a:t>
            </a:r>
            <a:r>
              <a:rPr sz="1600" spc="2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output</a:t>
            </a:r>
            <a:r>
              <a:rPr sz="1600" spc="254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remotely,</a:t>
            </a:r>
            <a:r>
              <a:rPr sz="1600" spc="26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and </a:t>
            </a:r>
            <a:r>
              <a:rPr sz="1600" spc="-10" dirty="0">
                <a:latin typeface="Times New Roman"/>
                <a:cs typeface="Times New Roman"/>
              </a:rPr>
              <a:t>manage</a:t>
            </a:r>
            <a:r>
              <a:rPr sz="1600" spc="-1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power</a:t>
            </a:r>
            <a:r>
              <a:rPr sz="1600" spc="-10" dirty="0">
                <a:latin typeface="Times New Roman"/>
                <a:cs typeface="Times New Roman"/>
              </a:rPr>
              <a:t> usage</a:t>
            </a:r>
            <a:r>
              <a:rPr sz="1600" spc="-17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intelligently.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67386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INTRODUCTION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-6095" y="0"/>
            <a:ext cx="12197715" cy="1015365"/>
            <a:chOff x="-6095" y="0"/>
            <a:chExt cx="12197715" cy="1015365"/>
          </a:xfrm>
        </p:grpSpPr>
        <p:sp>
          <p:nvSpPr>
            <p:cNvPr id="4" name="object 4"/>
            <p:cNvSpPr/>
            <p:nvPr/>
          </p:nvSpPr>
          <p:spPr>
            <a:xfrm>
              <a:off x="0" y="963169"/>
              <a:ext cx="12185650" cy="45720"/>
            </a:xfrm>
            <a:custGeom>
              <a:avLst/>
              <a:gdLst/>
              <a:ahLst/>
              <a:cxnLst/>
              <a:rect l="l" t="t" r="r" b="b"/>
              <a:pathLst>
                <a:path w="12185650" h="45719">
                  <a:moveTo>
                    <a:pt x="12185396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12185396" y="45718"/>
                  </a:lnTo>
                  <a:lnTo>
                    <a:pt x="12185396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963167"/>
              <a:ext cx="12185650" cy="45720"/>
            </a:xfrm>
            <a:custGeom>
              <a:avLst/>
              <a:gdLst/>
              <a:ahLst/>
              <a:cxnLst/>
              <a:rect l="l" t="t" r="r" b="b"/>
              <a:pathLst>
                <a:path w="12185650" h="45719">
                  <a:moveTo>
                    <a:pt x="0" y="45720"/>
                  </a:moveTo>
                  <a:lnTo>
                    <a:pt x="12185396" y="45720"/>
                  </a:lnTo>
                  <a:lnTo>
                    <a:pt x="12185396" y="0"/>
                  </a:lnTo>
                  <a:lnTo>
                    <a:pt x="0" y="0"/>
                  </a:lnTo>
                </a:path>
              </a:pathLst>
            </a:custGeom>
            <a:ln w="12192">
              <a:solidFill>
                <a:srgbClr val="00AC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31296" y="0"/>
              <a:ext cx="972311" cy="923544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50100"/>
              </a:lnSpc>
              <a:spcBef>
                <a:spcPts val="100"/>
              </a:spcBef>
            </a:pPr>
            <a:r>
              <a:rPr dirty="0"/>
              <a:t>Solar</a:t>
            </a:r>
            <a:r>
              <a:rPr spc="130" dirty="0"/>
              <a:t> </a:t>
            </a:r>
            <a:r>
              <a:rPr dirty="0"/>
              <a:t>energy</a:t>
            </a:r>
            <a:r>
              <a:rPr spc="110" dirty="0"/>
              <a:t> </a:t>
            </a:r>
            <a:r>
              <a:rPr dirty="0"/>
              <a:t>is</a:t>
            </a:r>
            <a:r>
              <a:rPr spc="114" dirty="0"/>
              <a:t> </a:t>
            </a:r>
            <a:r>
              <a:rPr dirty="0"/>
              <a:t>one</a:t>
            </a:r>
            <a:r>
              <a:rPr spc="120" dirty="0"/>
              <a:t> </a:t>
            </a:r>
            <a:r>
              <a:rPr dirty="0"/>
              <a:t>of</a:t>
            </a:r>
            <a:r>
              <a:rPr spc="130" dirty="0"/>
              <a:t> </a:t>
            </a:r>
            <a:r>
              <a:rPr dirty="0"/>
              <a:t>the</a:t>
            </a:r>
            <a:r>
              <a:rPr spc="100" dirty="0"/>
              <a:t> </a:t>
            </a:r>
            <a:r>
              <a:rPr dirty="0"/>
              <a:t>most</a:t>
            </a:r>
            <a:r>
              <a:rPr spc="140" dirty="0"/>
              <a:t> </a:t>
            </a:r>
            <a:r>
              <a:rPr dirty="0"/>
              <a:t>abundant</a:t>
            </a:r>
            <a:r>
              <a:rPr spc="125" dirty="0"/>
              <a:t> </a:t>
            </a:r>
            <a:r>
              <a:rPr dirty="0"/>
              <a:t>renewable</a:t>
            </a:r>
            <a:r>
              <a:rPr spc="125" dirty="0"/>
              <a:t> </a:t>
            </a:r>
            <a:r>
              <a:rPr dirty="0"/>
              <a:t>energy</a:t>
            </a:r>
            <a:r>
              <a:rPr spc="110" dirty="0"/>
              <a:t> </a:t>
            </a:r>
            <a:r>
              <a:rPr dirty="0"/>
              <a:t>sources</a:t>
            </a:r>
            <a:r>
              <a:rPr spc="135" dirty="0"/>
              <a:t> </a:t>
            </a:r>
            <a:r>
              <a:rPr dirty="0"/>
              <a:t>available</a:t>
            </a:r>
            <a:r>
              <a:rPr spc="130" dirty="0"/>
              <a:t> </a:t>
            </a:r>
            <a:r>
              <a:rPr dirty="0"/>
              <a:t>on</a:t>
            </a:r>
            <a:r>
              <a:rPr spc="145" dirty="0"/>
              <a:t> </a:t>
            </a:r>
            <a:r>
              <a:rPr dirty="0"/>
              <a:t>Earth.</a:t>
            </a:r>
            <a:r>
              <a:rPr spc="120" dirty="0"/>
              <a:t> </a:t>
            </a:r>
            <a:r>
              <a:rPr dirty="0"/>
              <a:t>However,</a:t>
            </a:r>
            <a:r>
              <a:rPr spc="145" dirty="0"/>
              <a:t> </a:t>
            </a:r>
            <a:r>
              <a:rPr dirty="0"/>
              <a:t>most</a:t>
            </a:r>
            <a:r>
              <a:rPr spc="140" dirty="0"/>
              <a:t> </a:t>
            </a:r>
            <a:r>
              <a:rPr spc="-10" dirty="0"/>
              <a:t>traditional </a:t>
            </a:r>
            <a:r>
              <a:rPr dirty="0"/>
              <a:t>solar</a:t>
            </a:r>
            <a:r>
              <a:rPr spc="120" dirty="0"/>
              <a:t> </a:t>
            </a:r>
            <a:r>
              <a:rPr dirty="0"/>
              <a:t>panels</a:t>
            </a:r>
            <a:r>
              <a:rPr spc="130" dirty="0"/>
              <a:t> </a:t>
            </a:r>
            <a:r>
              <a:rPr dirty="0"/>
              <a:t>are</a:t>
            </a:r>
            <a:r>
              <a:rPr spc="114" dirty="0"/>
              <a:t> </a:t>
            </a:r>
            <a:r>
              <a:rPr dirty="0"/>
              <a:t>static</a:t>
            </a:r>
            <a:r>
              <a:rPr spc="90" dirty="0"/>
              <a:t> </a:t>
            </a:r>
            <a:r>
              <a:rPr dirty="0"/>
              <a:t>and</a:t>
            </a:r>
            <a:r>
              <a:rPr spc="95" dirty="0"/>
              <a:t> </a:t>
            </a:r>
            <a:r>
              <a:rPr dirty="0"/>
              <a:t>do</a:t>
            </a:r>
            <a:r>
              <a:rPr spc="90" dirty="0"/>
              <a:t> </a:t>
            </a:r>
            <a:r>
              <a:rPr dirty="0"/>
              <a:t>not</a:t>
            </a:r>
            <a:r>
              <a:rPr spc="120" dirty="0"/>
              <a:t> </a:t>
            </a:r>
            <a:r>
              <a:rPr dirty="0"/>
              <a:t>follow</a:t>
            </a:r>
            <a:r>
              <a:rPr spc="90" dirty="0"/>
              <a:t> </a:t>
            </a:r>
            <a:r>
              <a:rPr dirty="0"/>
              <a:t>the</a:t>
            </a:r>
            <a:r>
              <a:rPr spc="114" dirty="0"/>
              <a:t> </a:t>
            </a:r>
            <a:r>
              <a:rPr dirty="0"/>
              <a:t>movement</a:t>
            </a:r>
            <a:r>
              <a:rPr spc="114" dirty="0"/>
              <a:t> </a:t>
            </a:r>
            <a:r>
              <a:rPr dirty="0"/>
              <a:t>of</a:t>
            </a:r>
            <a:r>
              <a:rPr spc="120" dirty="0"/>
              <a:t> </a:t>
            </a:r>
            <a:r>
              <a:rPr dirty="0"/>
              <a:t>the</a:t>
            </a:r>
            <a:r>
              <a:rPr spc="110" dirty="0"/>
              <a:t> </a:t>
            </a:r>
            <a:r>
              <a:rPr dirty="0"/>
              <a:t>sun,</a:t>
            </a:r>
            <a:r>
              <a:rPr spc="105" dirty="0"/>
              <a:t> </a:t>
            </a:r>
            <a:r>
              <a:rPr dirty="0"/>
              <a:t>leading</a:t>
            </a:r>
            <a:r>
              <a:rPr spc="70" dirty="0"/>
              <a:t> </a:t>
            </a:r>
            <a:r>
              <a:rPr dirty="0"/>
              <a:t>to</a:t>
            </a:r>
            <a:r>
              <a:rPr spc="120" dirty="0"/>
              <a:t> </a:t>
            </a:r>
            <a:r>
              <a:rPr spc="-55" dirty="0"/>
              <a:t>sub-</a:t>
            </a:r>
            <a:r>
              <a:rPr dirty="0"/>
              <a:t>optimal</a:t>
            </a:r>
            <a:r>
              <a:rPr spc="95" dirty="0"/>
              <a:t> </a:t>
            </a:r>
            <a:r>
              <a:rPr dirty="0"/>
              <a:t>energy</a:t>
            </a:r>
            <a:r>
              <a:rPr spc="75" dirty="0"/>
              <a:t> </a:t>
            </a:r>
            <a:r>
              <a:rPr dirty="0"/>
              <a:t>production.</a:t>
            </a:r>
            <a:r>
              <a:rPr spc="110" dirty="0"/>
              <a:t> </a:t>
            </a:r>
            <a:r>
              <a:rPr spc="-20" dirty="0"/>
              <a:t>With </a:t>
            </a:r>
            <a:r>
              <a:rPr dirty="0"/>
              <a:t>the</a:t>
            </a:r>
            <a:r>
              <a:rPr spc="55" dirty="0"/>
              <a:t> </a:t>
            </a:r>
            <a:r>
              <a:rPr dirty="0"/>
              <a:t>advancement</a:t>
            </a:r>
            <a:r>
              <a:rPr spc="75" dirty="0"/>
              <a:t> </a:t>
            </a:r>
            <a:r>
              <a:rPr dirty="0"/>
              <a:t>of</a:t>
            </a:r>
            <a:r>
              <a:rPr spc="70" dirty="0"/>
              <a:t> </a:t>
            </a:r>
            <a:r>
              <a:rPr dirty="0"/>
              <a:t>the</a:t>
            </a:r>
            <a:r>
              <a:rPr spc="60" dirty="0"/>
              <a:t> </a:t>
            </a:r>
            <a:r>
              <a:rPr dirty="0"/>
              <a:t>Internet</a:t>
            </a:r>
            <a:r>
              <a:rPr spc="90" dirty="0"/>
              <a:t> </a:t>
            </a:r>
            <a:r>
              <a:rPr dirty="0"/>
              <a:t>of</a:t>
            </a:r>
            <a:r>
              <a:rPr spc="65" dirty="0"/>
              <a:t> </a:t>
            </a:r>
            <a:r>
              <a:rPr dirty="0"/>
              <a:t>Things</a:t>
            </a:r>
            <a:r>
              <a:rPr spc="75" dirty="0"/>
              <a:t> </a:t>
            </a:r>
            <a:r>
              <a:rPr dirty="0"/>
              <a:t>(IoT),</a:t>
            </a:r>
            <a:r>
              <a:rPr spc="85" dirty="0"/>
              <a:t> </a:t>
            </a:r>
            <a:r>
              <a:rPr dirty="0"/>
              <a:t>we</a:t>
            </a:r>
            <a:r>
              <a:rPr spc="55" dirty="0"/>
              <a:t> </a:t>
            </a:r>
            <a:r>
              <a:rPr dirty="0"/>
              <a:t>can</a:t>
            </a:r>
            <a:r>
              <a:rPr spc="85" dirty="0"/>
              <a:t> </a:t>
            </a:r>
            <a:r>
              <a:rPr dirty="0"/>
              <a:t>enhance</a:t>
            </a:r>
            <a:r>
              <a:rPr spc="90" dirty="0"/>
              <a:t> </a:t>
            </a:r>
            <a:r>
              <a:rPr dirty="0"/>
              <a:t>solar</a:t>
            </a:r>
            <a:r>
              <a:rPr spc="70" dirty="0"/>
              <a:t> </a:t>
            </a:r>
            <a:r>
              <a:rPr dirty="0"/>
              <a:t>panel</a:t>
            </a:r>
            <a:r>
              <a:rPr spc="65" dirty="0"/>
              <a:t> </a:t>
            </a:r>
            <a:r>
              <a:rPr dirty="0"/>
              <a:t>systems</a:t>
            </a:r>
            <a:r>
              <a:rPr spc="70" dirty="0"/>
              <a:t> </a:t>
            </a:r>
            <a:r>
              <a:rPr dirty="0"/>
              <a:t>to</a:t>
            </a:r>
            <a:r>
              <a:rPr spc="65" dirty="0"/>
              <a:t> </a:t>
            </a:r>
            <a:r>
              <a:rPr dirty="0"/>
              <a:t>be</a:t>
            </a:r>
            <a:r>
              <a:rPr spc="60" dirty="0"/>
              <a:t> </a:t>
            </a:r>
            <a:r>
              <a:rPr dirty="0"/>
              <a:t>smarter,</a:t>
            </a:r>
            <a:r>
              <a:rPr spc="85" dirty="0"/>
              <a:t> </a:t>
            </a:r>
            <a:r>
              <a:rPr dirty="0"/>
              <a:t>more</a:t>
            </a:r>
            <a:r>
              <a:rPr spc="60" dirty="0"/>
              <a:t> </a:t>
            </a:r>
            <a:r>
              <a:rPr spc="-10" dirty="0"/>
              <a:t>efficient, </a:t>
            </a:r>
            <a:r>
              <a:rPr dirty="0"/>
              <a:t>and</a:t>
            </a:r>
            <a:r>
              <a:rPr spc="490" dirty="0"/>
              <a:t> </a:t>
            </a:r>
            <a:r>
              <a:rPr dirty="0"/>
              <a:t>manageable</a:t>
            </a:r>
            <a:r>
              <a:rPr spc="440" dirty="0"/>
              <a:t> </a:t>
            </a:r>
            <a:r>
              <a:rPr dirty="0"/>
              <a:t>remotely.</a:t>
            </a:r>
            <a:r>
              <a:rPr spc="440" dirty="0"/>
              <a:t> </a:t>
            </a:r>
            <a:r>
              <a:rPr dirty="0"/>
              <a:t>This</a:t>
            </a:r>
            <a:r>
              <a:rPr spc="434" dirty="0"/>
              <a:t> </a:t>
            </a:r>
            <a:r>
              <a:rPr dirty="0"/>
              <a:t>project</a:t>
            </a:r>
            <a:r>
              <a:rPr spc="420" dirty="0"/>
              <a:t> </a:t>
            </a:r>
            <a:r>
              <a:rPr dirty="0"/>
              <a:t>presents</a:t>
            </a:r>
            <a:r>
              <a:rPr spc="459" dirty="0"/>
              <a:t> </a:t>
            </a:r>
            <a:r>
              <a:rPr dirty="0"/>
              <a:t>an</a:t>
            </a:r>
            <a:r>
              <a:rPr spc="445" dirty="0"/>
              <a:t> </a:t>
            </a:r>
            <a:r>
              <a:rPr spc="-85" dirty="0"/>
              <a:t>IoT-</a:t>
            </a:r>
            <a:r>
              <a:rPr dirty="0"/>
              <a:t>based</a:t>
            </a:r>
            <a:r>
              <a:rPr spc="470" dirty="0"/>
              <a:t> </a:t>
            </a:r>
            <a:r>
              <a:rPr dirty="0"/>
              <a:t>system</a:t>
            </a:r>
            <a:r>
              <a:rPr spc="455" dirty="0"/>
              <a:t> </a:t>
            </a:r>
            <a:r>
              <a:rPr dirty="0"/>
              <a:t>that</a:t>
            </a:r>
            <a:r>
              <a:rPr spc="425" dirty="0"/>
              <a:t> </a:t>
            </a:r>
            <a:r>
              <a:rPr dirty="0"/>
              <a:t>combines</a:t>
            </a:r>
            <a:r>
              <a:rPr spc="455" dirty="0"/>
              <a:t> </a:t>
            </a:r>
            <a:r>
              <a:rPr dirty="0"/>
              <a:t>sun</a:t>
            </a:r>
            <a:r>
              <a:rPr spc="400" dirty="0"/>
              <a:t> </a:t>
            </a:r>
            <a:r>
              <a:rPr dirty="0"/>
              <a:t>tracking</a:t>
            </a:r>
            <a:r>
              <a:rPr spc="405" dirty="0"/>
              <a:t> </a:t>
            </a:r>
            <a:r>
              <a:rPr dirty="0"/>
              <a:t>and</a:t>
            </a:r>
            <a:r>
              <a:rPr spc="400" dirty="0"/>
              <a:t> </a:t>
            </a:r>
            <a:r>
              <a:rPr spc="-10" dirty="0"/>
              <a:t>power management</a:t>
            </a:r>
            <a:r>
              <a:rPr spc="-95" dirty="0"/>
              <a:t> </a:t>
            </a:r>
            <a:r>
              <a:rPr spc="-10" dirty="0"/>
              <a:t>for</a:t>
            </a:r>
            <a:r>
              <a:rPr spc="-90" dirty="0"/>
              <a:t> </a:t>
            </a:r>
            <a:r>
              <a:rPr spc="-10" dirty="0"/>
              <a:t>better</a:t>
            </a:r>
            <a:r>
              <a:rPr spc="-90" dirty="0"/>
              <a:t> </a:t>
            </a:r>
            <a:r>
              <a:rPr dirty="0"/>
              <a:t>solar</a:t>
            </a:r>
            <a:r>
              <a:rPr spc="-75" dirty="0"/>
              <a:t> </a:t>
            </a:r>
            <a:r>
              <a:rPr dirty="0"/>
              <a:t>energy</a:t>
            </a:r>
            <a:r>
              <a:rPr spc="-45" dirty="0"/>
              <a:t> </a:t>
            </a:r>
            <a:r>
              <a:rPr spc="-10" dirty="0"/>
              <a:t>utilization.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65"/>
              </a:lnSpc>
            </a:pPr>
            <a:r>
              <a:rPr spc="-60" dirty="0"/>
              <a:t>Department </a:t>
            </a:r>
            <a:r>
              <a:rPr dirty="0"/>
              <a:t>of</a:t>
            </a:r>
            <a:r>
              <a:rPr spc="85" dirty="0"/>
              <a:t> </a:t>
            </a:r>
            <a:r>
              <a:rPr spc="-25" dirty="0"/>
              <a:t>ECE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75"/>
              </a:lnSpc>
            </a:pPr>
            <a:r>
              <a:rPr dirty="0"/>
              <a:t>S.E.A</a:t>
            </a:r>
            <a:r>
              <a:rPr spc="295" dirty="0"/>
              <a:t> </a:t>
            </a:r>
            <a:r>
              <a:rPr spc="-35" dirty="0"/>
              <a:t>COLLEGE</a:t>
            </a:r>
            <a:r>
              <a:rPr spc="-20" dirty="0"/>
              <a:t> </a:t>
            </a:r>
            <a:r>
              <a:rPr dirty="0"/>
              <a:t>OF</a:t>
            </a:r>
            <a:r>
              <a:rPr spc="-60" dirty="0"/>
              <a:t> </a:t>
            </a:r>
            <a:r>
              <a:rPr spc="-40" dirty="0"/>
              <a:t>ENGINEERING&amp;</a:t>
            </a:r>
            <a:r>
              <a:rPr spc="-85" dirty="0"/>
              <a:t> </a:t>
            </a:r>
            <a:r>
              <a:rPr spc="-10" dirty="0"/>
              <a:t>TECHNOLOGY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5041" rIns="0" bIns="0" rtlCol="0">
            <a:spAutoFit/>
          </a:bodyPr>
          <a:lstStyle/>
          <a:p>
            <a:pPr marL="1223010">
              <a:lnSpc>
                <a:spcPct val="100000"/>
              </a:lnSpc>
              <a:spcBef>
                <a:spcPts val="100"/>
              </a:spcBef>
            </a:pPr>
            <a:r>
              <a:rPr sz="3000" spc="-35" dirty="0"/>
              <a:t>LITERATURE</a:t>
            </a:r>
            <a:r>
              <a:rPr sz="3000" spc="-229" dirty="0"/>
              <a:t> </a:t>
            </a:r>
            <a:r>
              <a:rPr sz="3000" spc="-10" dirty="0"/>
              <a:t>REVIEW</a:t>
            </a:r>
            <a:endParaRPr sz="30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04800" y="686308"/>
          <a:ext cx="11581764" cy="50972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08935"/>
                <a:gridCol w="2736215"/>
                <a:gridCol w="2948304"/>
                <a:gridCol w="2842895"/>
                <a:gridCol w="145415"/>
              </a:tblGrid>
              <a:tr h="258445">
                <a:tc>
                  <a:txBody>
                    <a:bodyPr/>
                    <a:lstStyle/>
                    <a:p>
                      <a:pPr marL="635" algn="ctr">
                        <a:lnSpc>
                          <a:spcPts val="1735"/>
                        </a:lnSpc>
                      </a:pPr>
                      <a:endParaRPr lang="en-US" sz="1800" b="1" spc="-10" dirty="0" smtClean="0">
                        <a:solidFill>
                          <a:srgbClr val="FFFFFF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635" algn="ctr">
                        <a:lnSpc>
                          <a:spcPts val="1735"/>
                        </a:lnSpc>
                      </a:pPr>
                      <a:r>
                        <a:rPr sz="1800" b="1" spc="-10" smtClean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Title</a:t>
                      </a:r>
                      <a:endParaRPr sz="18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76200">
                      <a:solidFill>
                        <a:srgbClr val="001F5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6CC4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ts val="1735"/>
                        </a:lnSpc>
                      </a:pPr>
                      <a:endParaRPr lang="en-US" sz="1800" b="1" spc="-10" dirty="0" smtClean="0">
                        <a:solidFill>
                          <a:srgbClr val="FFFFFF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4445" algn="ctr">
                        <a:lnSpc>
                          <a:spcPts val="1735"/>
                        </a:lnSpc>
                      </a:pPr>
                      <a:r>
                        <a:rPr sz="1800" b="1" spc="-10" smtClean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Authors</a:t>
                      </a:r>
                      <a:endParaRPr sz="18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76200">
                      <a:solidFill>
                        <a:srgbClr val="001F5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6CC4"/>
                    </a:solidFill>
                  </a:tcPr>
                </a:tc>
                <a:tc>
                  <a:txBody>
                    <a:bodyPr/>
                    <a:lstStyle/>
                    <a:p>
                      <a:pPr marL="897255">
                        <a:lnSpc>
                          <a:spcPts val="1735"/>
                        </a:lnSpc>
                      </a:pPr>
                      <a:endParaRPr lang="en-US" sz="1800" b="1" spc="-10" dirty="0" smtClean="0">
                        <a:solidFill>
                          <a:srgbClr val="FFFFFF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897255">
                        <a:lnSpc>
                          <a:spcPts val="1735"/>
                        </a:lnSpc>
                      </a:pPr>
                      <a:r>
                        <a:rPr sz="1800" b="1" spc="-10" smtClean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Publications</a:t>
                      </a:r>
                      <a:endParaRPr sz="18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76200">
                      <a:solidFill>
                        <a:srgbClr val="001F5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6CC4"/>
                    </a:solidFill>
                  </a:tcPr>
                </a:tc>
                <a:tc>
                  <a:txBody>
                    <a:bodyPr/>
                    <a:lstStyle/>
                    <a:p>
                      <a:pPr marL="15875" algn="ctr">
                        <a:lnSpc>
                          <a:spcPts val="1735"/>
                        </a:lnSpc>
                      </a:pPr>
                      <a:endParaRPr lang="en-US" sz="1800" b="1" spc="-10" dirty="0" smtClean="0">
                        <a:solidFill>
                          <a:srgbClr val="FFFFFF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15875" algn="ctr">
                        <a:lnSpc>
                          <a:spcPts val="1735"/>
                        </a:lnSpc>
                      </a:pPr>
                      <a:r>
                        <a:rPr sz="1800" b="1" spc="-10" smtClean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About</a:t>
                      </a:r>
                      <a:endParaRPr sz="18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76200">
                      <a:solidFill>
                        <a:srgbClr val="001F5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6CC4"/>
                    </a:solidFill>
                  </a:tcPr>
                </a:tc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>
                    <a:lnT w="76200">
                      <a:solidFill>
                        <a:srgbClr val="001F5F"/>
                      </a:solidFill>
                      <a:prstDash val="solid"/>
                    </a:lnT>
                  </a:tcPr>
                </a:tc>
              </a:tr>
              <a:tr h="1625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endParaRPr sz="160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146050" marR="266700" algn="just">
                        <a:lnSpc>
                          <a:spcPct val="100000"/>
                        </a:lnSpc>
                      </a:pPr>
                      <a:r>
                        <a:rPr sz="1600" smtClean="0">
                          <a:latin typeface="Times New Roman" pitchFamily="18" charset="0"/>
                          <a:cs typeface="Times New Roman" pitchFamily="18" charset="0"/>
                        </a:rPr>
                        <a:t>IoT</a:t>
                      </a:r>
                      <a:r>
                        <a:rPr sz="1600" spc="-5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600" spc="-10" smtClean="0">
                          <a:latin typeface="Times New Roman" pitchFamily="18" charset="0"/>
                          <a:cs typeface="Times New Roman" pitchFamily="18" charset="0"/>
                        </a:rPr>
                        <a:t>Based</a:t>
                      </a:r>
                      <a:r>
                        <a:rPr sz="1600" spc="-125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1600" spc="-125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600" smtClean="0">
                          <a:latin typeface="Times New Roman" pitchFamily="18" charset="0"/>
                          <a:cs typeface="Times New Roman" pitchFamily="18" charset="0"/>
                        </a:rPr>
                        <a:t>Solar</a:t>
                      </a:r>
                      <a:r>
                        <a:rPr sz="1600" spc="-6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600" spc="-20" smtClean="0">
                          <a:latin typeface="Times New Roman" pitchFamily="18" charset="0"/>
                          <a:cs typeface="Times New Roman" pitchFamily="18" charset="0"/>
                        </a:rPr>
                        <a:t>Panel </a:t>
                      </a:r>
                      <a:r>
                        <a:rPr sz="1600" spc="-10" smtClean="0">
                          <a:latin typeface="Times New Roman" pitchFamily="18" charset="0"/>
                          <a:cs typeface="Times New Roman" pitchFamily="18" charset="0"/>
                        </a:rPr>
                        <a:t>Tracking</a:t>
                      </a:r>
                      <a:r>
                        <a:rPr sz="1600" spc="-165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600" spc="-10" smtClean="0">
                          <a:latin typeface="Times New Roman" pitchFamily="18" charset="0"/>
                          <a:cs typeface="Times New Roman" pitchFamily="18" charset="0"/>
                        </a:rPr>
                        <a:t>System</a:t>
                      </a:r>
                      <a:r>
                        <a:rPr sz="1600" spc="-4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600" spc="-10" smtClean="0">
                          <a:latin typeface="Times New Roman" pitchFamily="18" charset="0"/>
                          <a:cs typeface="Times New Roman" pitchFamily="18" charset="0"/>
                        </a:rPr>
                        <a:t>with</a:t>
                      </a:r>
                      <a:r>
                        <a:rPr sz="1600" spc="-114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600" spc="-10" smtClean="0">
                          <a:latin typeface="Times New Roman" pitchFamily="18" charset="0"/>
                          <a:cs typeface="Times New Roman" pitchFamily="18" charset="0"/>
                        </a:rPr>
                        <a:t>Weather </a:t>
                      </a:r>
                      <a:r>
                        <a:rPr sz="1600" spc="-25" smtClean="0">
                          <a:latin typeface="Times New Roman" pitchFamily="18" charset="0"/>
                          <a:cs typeface="Times New Roman" pitchFamily="18" charset="0"/>
                        </a:rPr>
                        <a:t>Monitoring</a:t>
                      </a:r>
                      <a:r>
                        <a:rPr sz="1600" spc="-10" smtClean="0">
                          <a:latin typeface="Times New Roman" pitchFamily="18" charset="0"/>
                          <a:cs typeface="Times New Roman" pitchFamily="18" charset="0"/>
                        </a:rPr>
                        <a:t> System.</a:t>
                      </a:r>
                      <a:endParaRPr sz="16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2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endParaRPr sz="160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600" spc="-10" dirty="0">
                          <a:latin typeface="Times New Roman" pitchFamily="18" charset="0"/>
                          <a:cs typeface="Times New Roman" pitchFamily="18" charset="0"/>
                        </a:rPr>
                        <a:t>K.Dinesh</a:t>
                      </a:r>
                      <a:r>
                        <a:rPr sz="1600" spc="-75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600" dirty="0">
                          <a:latin typeface="Times New Roman" pitchFamily="18" charset="0"/>
                          <a:cs typeface="Times New Roman" pitchFamily="18" charset="0"/>
                        </a:rPr>
                        <a:t>,</a:t>
                      </a:r>
                      <a:r>
                        <a:rPr sz="1600" spc="-4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600" spc="-10" dirty="0">
                          <a:latin typeface="Times New Roman" pitchFamily="18" charset="0"/>
                          <a:cs typeface="Times New Roman" pitchFamily="18" charset="0"/>
                        </a:rPr>
                        <a:t>Lakshmi</a:t>
                      </a:r>
                      <a:endParaRPr sz="160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Times New Roman" pitchFamily="18" charset="0"/>
                          <a:cs typeface="Times New Roman" pitchFamily="18" charset="0"/>
                        </a:rPr>
                        <a:t>Priya.A</a:t>
                      </a:r>
                      <a:r>
                        <a:rPr sz="1600" spc="-3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600" dirty="0">
                          <a:latin typeface="Times New Roman" pitchFamily="18" charset="0"/>
                          <a:cs typeface="Times New Roman" pitchFamily="18" charset="0"/>
                        </a:rPr>
                        <a:t>,</a:t>
                      </a:r>
                      <a:r>
                        <a:rPr sz="1600" spc="-13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600" spc="-30" dirty="0">
                          <a:latin typeface="Times New Roman" pitchFamily="18" charset="0"/>
                          <a:cs typeface="Times New Roman" pitchFamily="18" charset="0"/>
                        </a:rPr>
                        <a:t>Sandhya.</a:t>
                      </a:r>
                      <a:r>
                        <a:rPr sz="1600" spc="-8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600" spc="-50" dirty="0">
                          <a:latin typeface="Times New Roman" pitchFamily="18" charset="0"/>
                          <a:cs typeface="Times New Roman" pitchFamily="18" charset="0"/>
                        </a:rPr>
                        <a:t>M</a:t>
                      </a:r>
                      <a:endParaRPr sz="16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2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60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62230" marR="730250" algn="just">
                        <a:lnSpc>
                          <a:spcPct val="100000"/>
                        </a:lnSpc>
                      </a:pPr>
                      <a:r>
                        <a:rPr sz="1600" spc="-10" dirty="0">
                          <a:latin typeface="Times New Roman" pitchFamily="18" charset="0"/>
                          <a:cs typeface="Times New Roman" pitchFamily="18" charset="0"/>
                        </a:rPr>
                        <a:t>Recent</a:t>
                      </a:r>
                      <a:r>
                        <a:rPr sz="1600" spc="-15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600" dirty="0">
                          <a:latin typeface="Times New Roman" pitchFamily="18" charset="0"/>
                          <a:cs typeface="Times New Roman" pitchFamily="18" charset="0"/>
                        </a:rPr>
                        <a:t>Trends</a:t>
                      </a:r>
                      <a:r>
                        <a:rPr sz="1600" spc="-55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600" dirty="0">
                          <a:latin typeface="Times New Roman" pitchFamily="18" charset="0"/>
                          <a:cs typeface="Times New Roman" pitchFamily="18" charset="0"/>
                        </a:rPr>
                        <a:t>in</a:t>
                      </a:r>
                      <a:r>
                        <a:rPr sz="1600" spc="-10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600" spc="-10" dirty="0">
                          <a:latin typeface="Times New Roman" pitchFamily="18" charset="0"/>
                          <a:cs typeface="Times New Roman" pitchFamily="18" charset="0"/>
                        </a:rPr>
                        <a:t>Intensive </a:t>
                      </a:r>
                      <a:r>
                        <a:rPr sz="1600" spc="-25" dirty="0">
                          <a:latin typeface="Times New Roman" pitchFamily="18" charset="0"/>
                          <a:cs typeface="Times New Roman" pitchFamily="18" charset="0"/>
                        </a:rPr>
                        <a:t>Computing</a:t>
                      </a:r>
                      <a:r>
                        <a:rPr sz="1600" spc="-8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600" spc="-10" dirty="0">
                          <a:latin typeface="Times New Roman" pitchFamily="18" charset="0"/>
                          <a:cs typeface="Times New Roman" pitchFamily="18" charset="0"/>
                        </a:rPr>
                        <a:t>M.Rajeshet al.(Eds.)</a:t>
                      </a:r>
                      <a:endParaRPr sz="160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62230" algn="just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spc="-20" smtClean="0">
                          <a:latin typeface="Times New Roman" pitchFamily="18" charset="0"/>
                          <a:cs typeface="Times New Roman" pitchFamily="18" charset="0"/>
                        </a:rPr>
                        <a:t>©</a:t>
                      </a:r>
                      <a:r>
                        <a:rPr lang="en-US" sz="1600" spc="-2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600" spc="-20" smtClean="0">
                          <a:latin typeface="Times New Roman" pitchFamily="18" charset="0"/>
                          <a:cs typeface="Times New Roman" pitchFamily="18" charset="0"/>
                        </a:rPr>
                        <a:t>2021</a:t>
                      </a:r>
                      <a:r>
                        <a:rPr sz="1600" spc="-20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600" dirty="0">
                          <a:latin typeface="Times New Roman" pitchFamily="18" charset="0"/>
                          <a:cs typeface="Times New Roman" pitchFamily="18" charset="0"/>
                        </a:rPr>
                        <a:t>The</a:t>
                      </a:r>
                      <a:r>
                        <a:rPr sz="1600" spc="-7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600" spc="-10" dirty="0">
                          <a:latin typeface="Times New Roman" pitchFamily="18" charset="0"/>
                          <a:cs typeface="Times New Roman" pitchFamily="18" charset="0"/>
                        </a:rPr>
                        <a:t>authors</a:t>
                      </a:r>
                      <a:r>
                        <a:rPr sz="1600" spc="-145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600" dirty="0">
                          <a:latin typeface="Times New Roman" pitchFamily="18" charset="0"/>
                          <a:cs typeface="Times New Roman" pitchFamily="18" charset="0"/>
                        </a:rPr>
                        <a:t>and</a:t>
                      </a:r>
                      <a:r>
                        <a:rPr sz="1600" spc="-75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600" dirty="0">
                          <a:latin typeface="Times New Roman" pitchFamily="18" charset="0"/>
                          <a:cs typeface="Times New Roman" pitchFamily="18" charset="0"/>
                        </a:rPr>
                        <a:t>IOS</a:t>
                      </a:r>
                      <a:r>
                        <a:rPr sz="1600" spc="45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600" spc="-10" dirty="0">
                          <a:latin typeface="Times New Roman" pitchFamily="18" charset="0"/>
                          <a:cs typeface="Times New Roman" pitchFamily="18" charset="0"/>
                        </a:rPr>
                        <a:t>Press.</a:t>
                      </a:r>
                      <a:endParaRPr sz="16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2EA"/>
                    </a:solidFill>
                  </a:tcPr>
                </a:tc>
                <a:tc>
                  <a:txBody>
                    <a:bodyPr/>
                    <a:lstStyle/>
                    <a:p>
                      <a:pPr marL="96520" marR="412750" algn="just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600" spc="-10" dirty="0">
                          <a:latin typeface="Times New Roman" pitchFamily="18" charset="0"/>
                          <a:cs typeface="Times New Roman" pitchFamily="18" charset="0"/>
                        </a:rPr>
                        <a:t>This</a:t>
                      </a:r>
                      <a:r>
                        <a:rPr sz="1600" spc="-135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600" spc="-10" dirty="0">
                          <a:latin typeface="Times New Roman" pitchFamily="18" charset="0"/>
                          <a:cs typeface="Times New Roman" pitchFamily="18" charset="0"/>
                        </a:rPr>
                        <a:t>Created</a:t>
                      </a:r>
                      <a:r>
                        <a:rPr sz="1600" spc="-17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600" dirty="0">
                          <a:latin typeface="Times New Roman" pitchFamily="18" charset="0"/>
                          <a:cs typeface="Times New Roman" pitchFamily="18" charset="0"/>
                        </a:rPr>
                        <a:t>framework</a:t>
                      </a:r>
                      <a:r>
                        <a:rPr sz="1600" spc="-15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600" spc="-25" dirty="0">
                          <a:latin typeface="Times New Roman" pitchFamily="18" charset="0"/>
                          <a:cs typeface="Times New Roman" pitchFamily="18" charset="0"/>
                        </a:rPr>
                        <a:t>can </a:t>
                      </a:r>
                      <a:r>
                        <a:rPr sz="1600" dirty="0">
                          <a:latin typeface="Times New Roman" pitchFamily="18" charset="0"/>
                          <a:cs typeface="Times New Roman" pitchFamily="18" charset="0"/>
                        </a:rPr>
                        <a:t>be</a:t>
                      </a:r>
                      <a:r>
                        <a:rPr sz="1600" spc="-11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600" spc="-10" dirty="0">
                          <a:latin typeface="Times New Roman" pitchFamily="18" charset="0"/>
                          <a:cs typeface="Times New Roman" pitchFamily="18" charset="0"/>
                        </a:rPr>
                        <a:t>executed</a:t>
                      </a:r>
                      <a:r>
                        <a:rPr sz="1600" spc="-85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600" dirty="0">
                          <a:latin typeface="Times New Roman" pitchFamily="18" charset="0"/>
                          <a:cs typeface="Times New Roman" pitchFamily="18" charset="0"/>
                        </a:rPr>
                        <a:t>in</a:t>
                      </a:r>
                      <a:r>
                        <a:rPr sz="1600" spc="-105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600" dirty="0">
                          <a:latin typeface="Times New Roman" pitchFamily="18" charset="0"/>
                          <a:cs typeface="Times New Roman" pitchFamily="18" charset="0"/>
                        </a:rPr>
                        <a:t>several</a:t>
                      </a:r>
                      <a:r>
                        <a:rPr sz="1600" spc="-20" dirty="0">
                          <a:latin typeface="Times New Roman" pitchFamily="18" charset="0"/>
                          <a:cs typeface="Times New Roman" pitchFamily="18" charset="0"/>
                        </a:rPr>
                        <a:t> solar </a:t>
                      </a:r>
                      <a:r>
                        <a:rPr sz="1600" spc="-25" dirty="0">
                          <a:latin typeface="Times New Roman" pitchFamily="18" charset="0"/>
                          <a:cs typeface="Times New Roman" pitchFamily="18" charset="0"/>
                        </a:rPr>
                        <a:t>plant</a:t>
                      </a:r>
                      <a:r>
                        <a:rPr sz="1600" spc="-8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600" spc="-10" dirty="0">
                          <a:latin typeface="Times New Roman" pitchFamily="18" charset="0"/>
                          <a:cs typeface="Times New Roman" pitchFamily="18" charset="0"/>
                        </a:rPr>
                        <a:t>stations</a:t>
                      </a:r>
                      <a:r>
                        <a:rPr sz="1600" spc="-15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600" dirty="0">
                          <a:latin typeface="Times New Roman" pitchFamily="18" charset="0"/>
                          <a:cs typeface="Times New Roman" pitchFamily="18" charset="0"/>
                        </a:rPr>
                        <a:t>to</a:t>
                      </a:r>
                      <a:r>
                        <a:rPr sz="1600" spc="-45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600" dirty="0">
                          <a:latin typeface="Times New Roman" pitchFamily="18" charset="0"/>
                          <a:cs typeface="Times New Roman" pitchFamily="18" charset="0"/>
                        </a:rPr>
                        <a:t>measure</a:t>
                      </a:r>
                      <a:r>
                        <a:rPr sz="1600" spc="3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600" spc="-25" dirty="0">
                          <a:latin typeface="Times New Roman" pitchFamily="18" charset="0"/>
                          <a:cs typeface="Times New Roman" pitchFamily="18" charset="0"/>
                        </a:rPr>
                        <a:t>the </a:t>
                      </a:r>
                      <a:r>
                        <a:rPr sz="1600" spc="-10" dirty="0">
                          <a:latin typeface="Times New Roman" pitchFamily="18" charset="0"/>
                          <a:cs typeface="Times New Roman" pitchFamily="18" charset="0"/>
                        </a:rPr>
                        <a:t>precise</a:t>
                      </a:r>
                      <a:r>
                        <a:rPr sz="1600" spc="-105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600" spc="-10" dirty="0">
                          <a:latin typeface="Times New Roman" pitchFamily="18" charset="0"/>
                          <a:cs typeface="Times New Roman" pitchFamily="18" charset="0"/>
                        </a:rPr>
                        <a:t>strength</a:t>
                      </a:r>
                      <a:r>
                        <a:rPr sz="1600" spc="-45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600" spc="-10" dirty="0">
                          <a:latin typeface="Times New Roman" pitchFamily="18" charset="0"/>
                          <a:cs typeface="Times New Roman" pitchFamily="18" charset="0"/>
                        </a:rPr>
                        <a:t>created</a:t>
                      </a:r>
                      <a:r>
                        <a:rPr sz="1600" spc="-20" dirty="0">
                          <a:latin typeface="Times New Roman" pitchFamily="18" charset="0"/>
                          <a:cs typeface="Times New Roman" pitchFamily="18" charset="0"/>
                        </a:rPr>
                        <a:t> from </a:t>
                      </a:r>
                      <a:r>
                        <a:rPr sz="1600" dirty="0">
                          <a:latin typeface="Times New Roman" pitchFamily="18" charset="0"/>
                          <a:cs typeface="Times New Roman" pitchFamily="18" charset="0"/>
                        </a:rPr>
                        <a:t>the</a:t>
                      </a:r>
                      <a:r>
                        <a:rPr sz="1600" spc="-125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600" spc="-10" dirty="0">
                          <a:latin typeface="Times New Roman" pitchFamily="18" charset="0"/>
                          <a:cs typeface="Times New Roman" pitchFamily="18" charset="0"/>
                        </a:rPr>
                        <a:t>ones</a:t>
                      </a:r>
                      <a:r>
                        <a:rPr sz="1600" spc="-105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600" spc="-10" dirty="0">
                          <a:latin typeface="Times New Roman" pitchFamily="18" charset="0"/>
                          <a:cs typeface="Times New Roman" pitchFamily="18" charset="0"/>
                        </a:rPr>
                        <a:t>devices</a:t>
                      </a:r>
                      <a:endParaRPr sz="16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103505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2EA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76200">
                      <a:solidFill>
                        <a:srgbClr val="001F5F"/>
                      </a:solidFill>
                      <a:prstDash val="solid"/>
                    </a:lnT>
                  </a:tcPr>
                </a:tc>
              </a:tr>
              <a:tr h="182829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endParaRPr sz="160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90805" marR="915035">
                        <a:lnSpc>
                          <a:spcPct val="100000"/>
                        </a:lnSpc>
                      </a:pPr>
                      <a:r>
                        <a:rPr sz="1600" spc="-10" dirty="0">
                          <a:latin typeface="Times New Roman" pitchFamily="18" charset="0"/>
                          <a:cs typeface="Times New Roman" pitchFamily="18" charset="0"/>
                        </a:rPr>
                        <a:t>Enhancing</a:t>
                      </a:r>
                      <a:r>
                        <a:rPr sz="1600" spc="-85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600" spc="-10" dirty="0">
                          <a:latin typeface="Times New Roman" pitchFamily="18" charset="0"/>
                          <a:cs typeface="Times New Roman" pitchFamily="18" charset="0"/>
                        </a:rPr>
                        <a:t>Energy Efficiency</a:t>
                      </a:r>
                      <a:r>
                        <a:rPr sz="1600" spc="-105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600" spc="-10" dirty="0">
                          <a:latin typeface="Times New Roman" pitchFamily="18" charset="0"/>
                          <a:cs typeface="Times New Roman" pitchFamily="18" charset="0"/>
                        </a:rPr>
                        <a:t>through</a:t>
                      </a:r>
                      <a:r>
                        <a:rPr sz="1600" spc="-8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600" spc="-30" dirty="0">
                          <a:latin typeface="Times New Roman" pitchFamily="18" charset="0"/>
                          <a:cs typeface="Times New Roman" pitchFamily="18" charset="0"/>
                        </a:rPr>
                        <a:t>IoT- </a:t>
                      </a:r>
                      <a:r>
                        <a:rPr sz="1600" dirty="0">
                          <a:latin typeface="Times New Roman" pitchFamily="18" charset="0"/>
                          <a:cs typeface="Times New Roman" pitchFamily="18" charset="0"/>
                        </a:rPr>
                        <a:t>enabled</a:t>
                      </a:r>
                      <a:r>
                        <a:rPr sz="1600" spc="-6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600" spc="-25" dirty="0">
                          <a:latin typeface="Times New Roman" pitchFamily="18" charset="0"/>
                          <a:cs typeface="Times New Roman" pitchFamily="18" charset="0"/>
                        </a:rPr>
                        <a:t>solar</a:t>
                      </a:r>
                      <a:r>
                        <a:rPr sz="1600" spc="-75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600" spc="-10" dirty="0">
                          <a:latin typeface="Times New Roman" pitchFamily="18" charset="0"/>
                          <a:cs typeface="Times New Roman" pitchFamily="18" charset="0"/>
                        </a:rPr>
                        <a:t>tracking.</a:t>
                      </a:r>
                      <a:endParaRPr sz="16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endParaRPr sz="160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92075" marR="732155" algn="just">
                        <a:lnSpc>
                          <a:spcPct val="100000"/>
                        </a:lnSpc>
                      </a:pPr>
                      <a:r>
                        <a:rPr sz="1600" spc="-10" smtClean="0">
                          <a:latin typeface="Times New Roman" pitchFamily="18" charset="0"/>
                          <a:cs typeface="Times New Roman" pitchFamily="18" charset="0"/>
                        </a:rPr>
                        <a:t>Kaushalya</a:t>
                      </a:r>
                      <a:r>
                        <a:rPr lang="en-US" sz="1600" spc="-4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600" spc="-10" smtClean="0">
                          <a:latin typeface="Times New Roman" pitchFamily="18" charset="0"/>
                          <a:cs typeface="Times New Roman" pitchFamily="18" charset="0"/>
                        </a:rPr>
                        <a:t>thopate,</a:t>
                      </a:r>
                      <a:endParaRPr lang="en-US" sz="1600" spc="-1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92075" marR="732155" algn="just">
                        <a:lnSpc>
                          <a:spcPct val="100000"/>
                        </a:lnSpc>
                        <a:tabLst>
                          <a:tab pos="2400300" algn="l"/>
                        </a:tabLst>
                      </a:pPr>
                      <a:r>
                        <a:rPr sz="1600" spc="-10" smtClean="0">
                          <a:latin typeface="Times New Roman" pitchFamily="18" charset="0"/>
                          <a:cs typeface="Times New Roman" pitchFamily="18" charset="0"/>
                        </a:rPr>
                        <a:t>Mayuri</a:t>
                      </a:r>
                      <a:r>
                        <a:rPr sz="1600" spc="-114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600" spc="-25" dirty="0">
                          <a:latin typeface="Times New Roman" pitchFamily="18" charset="0"/>
                          <a:cs typeface="Times New Roman" pitchFamily="18" charset="0"/>
                        </a:rPr>
                        <a:t>gawade,Surabhi </a:t>
                      </a:r>
                      <a:r>
                        <a:rPr sz="1600" spc="-10" dirty="0">
                          <a:latin typeface="Times New Roman" pitchFamily="18" charset="0"/>
                          <a:cs typeface="Times New Roman" pitchFamily="18" charset="0"/>
                        </a:rPr>
                        <a:t>kakade,Suvarna</a:t>
                      </a:r>
                      <a:r>
                        <a:rPr sz="1600" spc="-125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600" spc="-10" dirty="0">
                          <a:latin typeface="Times New Roman" pitchFamily="18" charset="0"/>
                          <a:cs typeface="Times New Roman" pitchFamily="18" charset="0"/>
                        </a:rPr>
                        <a:t>bahir.</a:t>
                      </a:r>
                      <a:endParaRPr sz="16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160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95885" marR="579755" algn="l">
                        <a:lnSpc>
                          <a:spcPct val="100000"/>
                        </a:lnSpc>
                      </a:pPr>
                      <a:r>
                        <a:rPr sz="1600" smtClean="0">
                          <a:latin typeface="Times New Roman" pitchFamily="18" charset="0"/>
                          <a:cs typeface="Times New Roman" pitchFamily="18" charset="0"/>
                        </a:rPr>
                        <a:t>2024</a:t>
                      </a:r>
                      <a:r>
                        <a:rPr lang="en-US" sz="1600" spc="-15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600" smtClean="0">
                          <a:latin typeface="Times New Roman" pitchFamily="18" charset="0"/>
                          <a:cs typeface="Times New Roman" pitchFamily="18" charset="0"/>
                        </a:rPr>
                        <a:t>IEEE</a:t>
                      </a:r>
                      <a:r>
                        <a:rPr lang="en-US" sz="16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International conference on the interdisciplinary in Technology and Management for social innovation (IATMSI)</a:t>
                      </a:r>
                      <a:endParaRPr sz="16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indent="-52388" algn="just" defTabSz="914400" eaLnBrk="1" fontAlgn="auto" latinLnBrk="0" hangingPunct="1">
                        <a:lnSpc>
                          <a:spcPct val="100000"/>
                        </a:lnSpc>
                        <a:spcBef>
                          <a:spcPts val="143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>
                          <a:latin typeface="Times New Roman" pitchFamily="18" charset="0"/>
                          <a:cs typeface="Times New Roman" pitchFamily="18" charset="0"/>
                        </a:rPr>
                        <a:t> To</a:t>
                      </a:r>
                      <a:r>
                        <a:rPr lang="en-US" sz="1600" spc="-95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1600" dirty="0" smtClean="0">
                          <a:latin typeface="Times New Roman" pitchFamily="18" charset="0"/>
                          <a:cs typeface="Times New Roman" pitchFamily="18" charset="0"/>
                        </a:rPr>
                        <a:t>develop</a:t>
                      </a:r>
                      <a:r>
                        <a:rPr lang="en-US" sz="1600" spc="-25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16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r>
                        <a:rPr lang="en-US" sz="1600" spc="-10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1600" dirty="0" smtClean="0">
                          <a:latin typeface="Times New Roman" pitchFamily="18" charset="0"/>
                          <a:cs typeface="Times New Roman" pitchFamily="18" charset="0"/>
                        </a:rPr>
                        <a:t>solar</a:t>
                      </a:r>
                      <a:r>
                        <a:rPr lang="en-US" sz="1600" spc="-4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1600" spc="-10" dirty="0" smtClean="0">
                          <a:latin typeface="Times New Roman" pitchFamily="18" charset="0"/>
                          <a:cs typeface="Times New Roman" pitchFamily="18" charset="0"/>
                        </a:rPr>
                        <a:t>energy </a:t>
                      </a:r>
                      <a:r>
                        <a:rPr lang="en-US" sz="1600" dirty="0" smtClean="0">
                          <a:latin typeface="Times New Roman" pitchFamily="18" charset="0"/>
                          <a:cs typeface="Times New Roman" pitchFamily="18" charset="0"/>
                        </a:rPr>
                        <a:t>tracking</a:t>
                      </a:r>
                      <a:r>
                        <a:rPr lang="en-US" sz="1600" spc="-7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1600" dirty="0" smtClean="0">
                          <a:latin typeface="Times New Roman" pitchFamily="18" charset="0"/>
                          <a:cs typeface="Times New Roman" pitchFamily="18" charset="0"/>
                        </a:rPr>
                        <a:t>panel</a:t>
                      </a:r>
                      <a:r>
                        <a:rPr lang="en-US" sz="1600" spc="-75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1600" dirty="0" smtClean="0">
                          <a:latin typeface="Times New Roman" pitchFamily="18" charset="0"/>
                          <a:cs typeface="Times New Roman" pitchFamily="18" charset="0"/>
                        </a:rPr>
                        <a:t>that</a:t>
                      </a:r>
                      <a:r>
                        <a:rPr lang="en-US" sz="1600" spc="-8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1600" dirty="0" smtClean="0">
                          <a:latin typeface="Times New Roman" pitchFamily="18" charset="0"/>
                          <a:cs typeface="Times New Roman" pitchFamily="18" charset="0"/>
                        </a:rPr>
                        <a:t>can</a:t>
                      </a:r>
                      <a:r>
                        <a:rPr lang="en-US" sz="1600" spc="-5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1600" spc="-10" dirty="0" smtClean="0">
                          <a:latin typeface="Times New Roman" pitchFamily="18" charset="0"/>
                          <a:cs typeface="Times New Roman" pitchFamily="18" charset="0"/>
                        </a:rPr>
                        <a:t>rotate for</a:t>
                      </a:r>
                      <a:r>
                        <a:rPr lang="en-US" sz="1600" spc="-5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1600" spc="-10" dirty="0" smtClean="0">
                          <a:latin typeface="Times New Roman" pitchFamily="18" charset="0"/>
                          <a:cs typeface="Times New Roman" pitchFamily="18" charset="0"/>
                        </a:rPr>
                        <a:t>enhanced</a:t>
                      </a:r>
                      <a:r>
                        <a:rPr lang="en-US" sz="1600" spc="-7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1600" spc="-20" dirty="0" smtClean="0">
                          <a:latin typeface="Times New Roman" pitchFamily="18" charset="0"/>
                          <a:cs typeface="Times New Roman" pitchFamily="18" charset="0"/>
                        </a:rPr>
                        <a:t>power </a:t>
                      </a:r>
                      <a:r>
                        <a:rPr lang="en-US" sz="1600" spc="-10" dirty="0" smtClean="0">
                          <a:latin typeface="Times New Roman" pitchFamily="18" charset="0"/>
                          <a:cs typeface="Times New Roman" pitchFamily="18" charset="0"/>
                        </a:rPr>
                        <a:t>generation.</a:t>
                      </a:r>
                      <a:endParaRPr lang="en-US" sz="160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435"/>
                        </a:spcBef>
                      </a:pPr>
                      <a:endParaRPr sz="16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182245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76200">
                      <a:solidFill>
                        <a:srgbClr val="001F5F"/>
                      </a:solidFill>
                      <a:prstDash val="solid"/>
                    </a:lnT>
                  </a:tcPr>
                </a:tc>
              </a:tr>
              <a:tr h="12115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endParaRPr sz="160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90805" marR="91948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dirty="0">
                          <a:latin typeface="Times New Roman" pitchFamily="18" charset="0"/>
                          <a:cs typeface="Times New Roman" pitchFamily="18" charset="0"/>
                        </a:rPr>
                        <a:t>Solar</a:t>
                      </a:r>
                      <a:r>
                        <a:rPr sz="1600" spc="-7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600" dirty="0">
                          <a:latin typeface="Times New Roman" pitchFamily="18" charset="0"/>
                          <a:cs typeface="Times New Roman" pitchFamily="18" charset="0"/>
                        </a:rPr>
                        <a:t>Tree</a:t>
                      </a:r>
                      <a:r>
                        <a:rPr sz="1600" spc="-6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600" dirty="0">
                          <a:latin typeface="Times New Roman" pitchFamily="18" charset="0"/>
                          <a:cs typeface="Times New Roman" pitchFamily="18" charset="0"/>
                        </a:rPr>
                        <a:t>based</a:t>
                      </a:r>
                      <a:r>
                        <a:rPr sz="1600" spc="-10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600" spc="-20" dirty="0">
                          <a:latin typeface="Times New Roman" pitchFamily="18" charset="0"/>
                          <a:cs typeface="Times New Roman" pitchFamily="18" charset="0"/>
                        </a:rPr>
                        <a:t>Home </a:t>
                      </a:r>
                      <a:r>
                        <a:rPr sz="1600" spc="-10" dirty="0">
                          <a:latin typeface="Times New Roman" pitchFamily="18" charset="0"/>
                          <a:cs typeface="Times New Roman" pitchFamily="18" charset="0"/>
                        </a:rPr>
                        <a:t>appliance</a:t>
                      </a:r>
                      <a:r>
                        <a:rPr sz="1600" spc="-55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600" spc="-10" dirty="0">
                          <a:latin typeface="Times New Roman" pitchFamily="18" charset="0"/>
                          <a:cs typeface="Times New Roman" pitchFamily="18" charset="0"/>
                        </a:rPr>
                        <a:t>Monitoring system</a:t>
                      </a:r>
                      <a:r>
                        <a:rPr sz="1600" spc="-7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600" dirty="0">
                          <a:latin typeface="Times New Roman" pitchFamily="18" charset="0"/>
                          <a:cs typeface="Times New Roman" pitchFamily="18" charset="0"/>
                        </a:rPr>
                        <a:t>using</a:t>
                      </a:r>
                      <a:r>
                        <a:rPr sz="1600" spc="-95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600" spc="-20" dirty="0">
                          <a:latin typeface="Times New Roman" pitchFamily="18" charset="0"/>
                          <a:cs typeface="Times New Roman" pitchFamily="18" charset="0"/>
                        </a:rPr>
                        <a:t>IoT.</a:t>
                      </a:r>
                      <a:endParaRPr sz="16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62865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2EA"/>
                    </a:solidFill>
                  </a:tcPr>
                </a:tc>
                <a:tc>
                  <a:txBody>
                    <a:bodyPr/>
                    <a:lstStyle/>
                    <a:p>
                      <a:pPr marR="728345" indent="103505">
                        <a:lnSpc>
                          <a:spcPct val="103000"/>
                        </a:lnSpc>
                        <a:spcBef>
                          <a:spcPts val="5"/>
                        </a:spcBef>
                      </a:pPr>
                      <a:endParaRPr lang="en-US" sz="160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114300" marR="728345" indent="0" algn="just">
                        <a:lnSpc>
                          <a:spcPct val="103000"/>
                        </a:lnSpc>
                        <a:spcBef>
                          <a:spcPts val="5"/>
                        </a:spcBef>
                        <a:tabLst>
                          <a:tab pos="457200" algn="l"/>
                        </a:tabLst>
                      </a:pPr>
                      <a:r>
                        <a:rPr sz="1600" smtClean="0">
                          <a:latin typeface="Times New Roman" pitchFamily="18" charset="0"/>
                          <a:cs typeface="Times New Roman" pitchFamily="18" charset="0"/>
                        </a:rPr>
                        <a:t>M.</a:t>
                      </a:r>
                      <a:r>
                        <a:rPr sz="1600" spc="-10" smtClean="0">
                          <a:latin typeface="Times New Roman" pitchFamily="18" charset="0"/>
                          <a:cs typeface="Times New Roman" pitchFamily="18" charset="0"/>
                        </a:rPr>
                        <a:t>Ish</a:t>
                      </a:r>
                      <a:r>
                        <a:rPr lang="en-US" sz="1600" spc="-1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warya</a:t>
                      </a:r>
                      <a:r>
                        <a:rPr lang="en-US" sz="1600" spc="-1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1600" spc="-1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Niranjana</a:t>
                      </a:r>
                      <a:r>
                        <a:rPr lang="en-US" sz="1600" spc="-1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, J </a:t>
                      </a:r>
                      <a:r>
                        <a:rPr lang="en-US" sz="1600" spc="-1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Dhanasekar</a:t>
                      </a:r>
                      <a:r>
                        <a:rPr lang="en-US" sz="1600" spc="-1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, </a:t>
                      </a:r>
                      <a:r>
                        <a:rPr lang="en-US" sz="1600" spc="-1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S.Karan</a:t>
                      </a:r>
                      <a:r>
                        <a:rPr lang="en-US" sz="1600" spc="-1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, </a:t>
                      </a:r>
                      <a:r>
                        <a:rPr lang="en-US" sz="1600" spc="-10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N.Nithesh</a:t>
                      </a:r>
                      <a:r>
                        <a:rPr lang="en-US" sz="1600" spc="-1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Kumar.</a:t>
                      </a:r>
                      <a:endParaRPr sz="16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2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80"/>
                        </a:spcBef>
                      </a:pPr>
                      <a:endParaRPr sz="160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1270" marR="197485" algn="just">
                        <a:lnSpc>
                          <a:spcPct val="100000"/>
                        </a:lnSpc>
                      </a:pPr>
                      <a:r>
                        <a:rPr sz="1600" smtClean="0">
                          <a:latin typeface="Times New Roman" pitchFamily="18" charset="0"/>
                          <a:cs typeface="Times New Roman" pitchFamily="18" charset="0"/>
                        </a:rPr>
                        <a:t>2023</a:t>
                      </a:r>
                      <a:r>
                        <a:rPr sz="1600" spc="165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600" dirty="0"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  <a:r>
                        <a:rPr sz="1575" baseline="18518" dirty="0">
                          <a:latin typeface="Times New Roman" pitchFamily="18" charset="0"/>
                          <a:cs typeface="Times New Roman" pitchFamily="18" charset="0"/>
                        </a:rPr>
                        <a:t>th</a:t>
                      </a:r>
                      <a:r>
                        <a:rPr sz="1575" spc="37" baseline="18518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600" dirty="0">
                          <a:latin typeface="Times New Roman" pitchFamily="18" charset="0"/>
                          <a:cs typeface="Times New Roman" pitchFamily="18" charset="0"/>
                        </a:rPr>
                        <a:t>International</a:t>
                      </a:r>
                      <a:r>
                        <a:rPr sz="1600" spc="16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600" spc="-10" dirty="0">
                          <a:latin typeface="Times New Roman" pitchFamily="18" charset="0"/>
                          <a:cs typeface="Times New Roman" pitchFamily="18" charset="0"/>
                        </a:rPr>
                        <a:t>conference </a:t>
                      </a:r>
                      <a:r>
                        <a:rPr sz="1600" dirty="0">
                          <a:latin typeface="Times New Roman" pitchFamily="18" charset="0"/>
                          <a:cs typeface="Times New Roman" pitchFamily="18" charset="0"/>
                        </a:rPr>
                        <a:t>on</a:t>
                      </a:r>
                      <a:r>
                        <a:rPr sz="1600" spc="-5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600" spc="-10" dirty="0">
                          <a:latin typeface="Times New Roman" pitchFamily="18" charset="0"/>
                          <a:cs typeface="Times New Roman" pitchFamily="18" charset="0"/>
                        </a:rPr>
                        <a:t>Electronics,</a:t>
                      </a:r>
                      <a:r>
                        <a:rPr sz="1600" spc="5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600" spc="-10" dirty="0">
                          <a:latin typeface="Times New Roman" pitchFamily="18" charset="0"/>
                          <a:cs typeface="Times New Roman" pitchFamily="18" charset="0"/>
                        </a:rPr>
                        <a:t>communication</a:t>
                      </a:r>
                      <a:r>
                        <a:rPr sz="1600" spc="25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600" spc="-50" dirty="0">
                          <a:latin typeface="Times New Roman" pitchFamily="18" charset="0"/>
                          <a:cs typeface="Times New Roman" pitchFamily="18" charset="0"/>
                        </a:rPr>
                        <a:t>&amp; </a:t>
                      </a:r>
                      <a:r>
                        <a:rPr sz="1600" spc="-10" dirty="0">
                          <a:latin typeface="Times New Roman" pitchFamily="18" charset="0"/>
                          <a:cs typeface="Times New Roman" pitchFamily="18" charset="0"/>
                        </a:rPr>
                        <a:t>Aerospace</a:t>
                      </a:r>
                      <a:r>
                        <a:rPr sz="1600" spc="-75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600" spc="-10" dirty="0">
                          <a:latin typeface="Times New Roman" pitchFamily="18" charset="0"/>
                          <a:cs typeface="Times New Roman" pitchFamily="18" charset="0"/>
                        </a:rPr>
                        <a:t>Technology(ICECA)</a:t>
                      </a:r>
                      <a:endParaRPr sz="16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1752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2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endParaRPr sz="160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96520" marR="560705" algn="just">
                        <a:lnSpc>
                          <a:spcPct val="100000"/>
                        </a:lnSpc>
                      </a:pPr>
                      <a:r>
                        <a:rPr sz="1600" dirty="0">
                          <a:latin typeface="Times New Roman" pitchFamily="18" charset="0"/>
                          <a:cs typeface="Times New Roman" pitchFamily="18" charset="0"/>
                        </a:rPr>
                        <a:t>To</a:t>
                      </a:r>
                      <a:r>
                        <a:rPr sz="1600" spc="14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600" dirty="0">
                          <a:latin typeface="Times New Roman" pitchFamily="18" charset="0"/>
                          <a:cs typeface="Times New Roman" pitchFamily="18" charset="0"/>
                        </a:rPr>
                        <a:t>improve</a:t>
                      </a:r>
                      <a:r>
                        <a:rPr sz="1600" spc="14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600" dirty="0">
                          <a:latin typeface="Times New Roman" pitchFamily="18" charset="0"/>
                          <a:cs typeface="Times New Roman" pitchFamily="18" charset="0"/>
                        </a:rPr>
                        <a:t>the</a:t>
                      </a:r>
                      <a:r>
                        <a:rPr sz="1600" spc="14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600" spc="-10" dirty="0">
                          <a:latin typeface="Times New Roman" pitchFamily="18" charset="0"/>
                          <a:cs typeface="Times New Roman" pitchFamily="18" charset="0"/>
                        </a:rPr>
                        <a:t>efficiency </a:t>
                      </a:r>
                      <a:r>
                        <a:rPr sz="1600" dirty="0">
                          <a:latin typeface="Times New Roman" pitchFamily="18" charset="0"/>
                          <a:cs typeface="Times New Roman" pitchFamily="18" charset="0"/>
                        </a:rPr>
                        <a:t>of</a:t>
                      </a:r>
                      <a:r>
                        <a:rPr sz="1600" spc="185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600" dirty="0">
                          <a:latin typeface="Times New Roman" pitchFamily="18" charset="0"/>
                          <a:cs typeface="Times New Roman" pitchFamily="18" charset="0"/>
                        </a:rPr>
                        <a:t>solar</a:t>
                      </a:r>
                      <a:r>
                        <a:rPr sz="1600" spc="215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600" dirty="0">
                          <a:latin typeface="Times New Roman" pitchFamily="18" charset="0"/>
                          <a:cs typeface="Times New Roman" pitchFamily="18" charset="0"/>
                        </a:rPr>
                        <a:t>energy</a:t>
                      </a:r>
                      <a:r>
                        <a:rPr sz="1600" spc="18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600" spc="-10" dirty="0">
                          <a:latin typeface="Times New Roman" pitchFamily="18" charset="0"/>
                          <a:cs typeface="Times New Roman" pitchFamily="18" charset="0"/>
                        </a:rPr>
                        <a:t>utilization </a:t>
                      </a:r>
                      <a:r>
                        <a:rPr sz="1600" dirty="0">
                          <a:latin typeface="Times New Roman" pitchFamily="18" charset="0"/>
                          <a:cs typeface="Times New Roman" pitchFamily="18" charset="0"/>
                        </a:rPr>
                        <a:t>by</a:t>
                      </a:r>
                      <a:r>
                        <a:rPr sz="1600" spc="-125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600" dirty="0">
                          <a:latin typeface="Times New Roman" pitchFamily="18" charset="0"/>
                          <a:cs typeface="Times New Roman" pitchFamily="18" charset="0"/>
                        </a:rPr>
                        <a:t>employing</a:t>
                      </a:r>
                      <a:r>
                        <a:rPr sz="1600" spc="-5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600" spc="-10" dirty="0">
                          <a:latin typeface="Times New Roman" pitchFamily="18" charset="0"/>
                          <a:cs typeface="Times New Roman" pitchFamily="18" charset="0"/>
                        </a:rPr>
                        <a:t>solar</a:t>
                      </a:r>
                      <a:r>
                        <a:rPr sz="1600" spc="-9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sz="1600" spc="-10" dirty="0">
                          <a:latin typeface="Times New Roman" pitchFamily="18" charset="0"/>
                          <a:cs typeface="Times New Roman" pitchFamily="18" charset="0"/>
                        </a:rPr>
                        <a:t>panels.</a:t>
                      </a:r>
                      <a:endParaRPr sz="16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91440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2EA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76200">
                      <a:solidFill>
                        <a:srgbClr val="001F5F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37392" y="0"/>
            <a:ext cx="972311" cy="92354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65"/>
              </a:lnSpc>
            </a:pPr>
            <a:r>
              <a:rPr spc="-60" dirty="0"/>
              <a:t>Department </a:t>
            </a:r>
            <a:r>
              <a:rPr dirty="0"/>
              <a:t>of</a:t>
            </a:r>
            <a:r>
              <a:rPr spc="85" dirty="0"/>
              <a:t> </a:t>
            </a:r>
            <a:r>
              <a:rPr spc="-25" dirty="0"/>
              <a:t>ECE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xfrm>
            <a:off x="4982083" y="6423299"/>
            <a:ext cx="6371717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75"/>
              </a:lnSpc>
            </a:pPr>
            <a:r>
              <a:rPr dirty="0"/>
              <a:t>S.E.A</a:t>
            </a:r>
            <a:r>
              <a:rPr spc="295" dirty="0"/>
              <a:t> </a:t>
            </a:r>
            <a:r>
              <a:rPr spc="-35" dirty="0"/>
              <a:t>COLLEGE</a:t>
            </a:r>
            <a:r>
              <a:rPr spc="-20" dirty="0"/>
              <a:t> </a:t>
            </a:r>
            <a:r>
              <a:rPr/>
              <a:t>OF</a:t>
            </a:r>
            <a:r>
              <a:rPr spc="-60"/>
              <a:t> </a:t>
            </a:r>
            <a:r>
              <a:rPr spc="-40" smtClean="0"/>
              <a:t>ENGINEERING</a:t>
            </a:r>
            <a:r>
              <a:rPr lang="en-US" spc="-40" dirty="0" smtClean="0"/>
              <a:t> </a:t>
            </a:r>
            <a:r>
              <a:rPr spc="-40" smtClean="0"/>
              <a:t>&amp;</a:t>
            </a:r>
            <a:r>
              <a:rPr spc="-85" smtClean="0"/>
              <a:t> </a:t>
            </a:r>
            <a:r>
              <a:rPr spc="-10" dirty="0"/>
              <a:t>TECHNOLOGY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0" dirty="0"/>
              <a:t>METHODOLOGY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977595" y="1419555"/>
            <a:ext cx="2375205" cy="260328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n-US" sz="1600" b="1" spc="-55" dirty="0" smtClean="0">
                <a:latin typeface="Times New Roman"/>
                <a:cs typeface="Times New Roman"/>
              </a:rPr>
              <a:t>CIRCUIT </a:t>
            </a:r>
            <a:r>
              <a:rPr sz="1600" b="1" spc="-55" smtClean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DIAGRAM: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-6095" y="0"/>
            <a:ext cx="12204700" cy="1015365"/>
            <a:chOff x="-6095" y="0"/>
            <a:chExt cx="12204700" cy="1015365"/>
          </a:xfrm>
        </p:grpSpPr>
        <p:sp>
          <p:nvSpPr>
            <p:cNvPr id="5" name="object 5"/>
            <p:cNvSpPr/>
            <p:nvPr/>
          </p:nvSpPr>
          <p:spPr>
            <a:xfrm>
              <a:off x="0" y="963169"/>
              <a:ext cx="12192000" cy="45720"/>
            </a:xfrm>
            <a:custGeom>
              <a:avLst/>
              <a:gdLst/>
              <a:ahLst/>
              <a:cxnLst/>
              <a:rect l="l" t="t" r="r" b="b"/>
              <a:pathLst>
                <a:path w="12192000" h="45719">
                  <a:moveTo>
                    <a:pt x="12192000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12192000" y="45718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963169"/>
              <a:ext cx="12192000" cy="45720"/>
            </a:xfrm>
            <a:custGeom>
              <a:avLst/>
              <a:gdLst/>
              <a:ahLst/>
              <a:cxnLst/>
              <a:rect l="l" t="t" r="r" b="b"/>
              <a:pathLst>
                <a:path w="12192000" h="45719">
                  <a:moveTo>
                    <a:pt x="0" y="45718"/>
                  </a:moveTo>
                  <a:lnTo>
                    <a:pt x="12192000" y="45718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45718"/>
                  </a:lnTo>
                  <a:close/>
                </a:path>
              </a:pathLst>
            </a:custGeom>
            <a:ln w="12192">
              <a:solidFill>
                <a:srgbClr val="00AC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37392" y="0"/>
              <a:ext cx="972311" cy="923544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65"/>
              </a:lnSpc>
            </a:pPr>
            <a:r>
              <a:rPr spc="-60" dirty="0"/>
              <a:t>Department </a:t>
            </a:r>
            <a:r>
              <a:rPr dirty="0"/>
              <a:t>of</a:t>
            </a:r>
            <a:r>
              <a:rPr spc="85" dirty="0"/>
              <a:t> </a:t>
            </a:r>
            <a:r>
              <a:rPr spc="-25" dirty="0"/>
              <a:t>ECE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xfrm>
            <a:off x="4982083" y="6423299"/>
            <a:ext cx="6371717" cy="3060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75"/>
              </a:lnSpc>
            </a:pPr>
            <a:r>
              <a:rPr dirty="0"/>
              <a:t>S.E.A</a:t>
            </a:r>
            <a:r>
              <a:rPr spc="295" dirty="0"/>
              <a:t> </a:t>
            </a:r>
            <a:r>
              <a:rPr spc="-35" dirty="0"/>
              <a:t>COLLEGE</a:t>
            </a:r>
            <a:r>
              <a:rPr spc="-20" dirty="0"/>
              <a:t> </a:t>
            </a:r>
            <a:r>
              <a:rPr/>
              <a:t>OF</a:t>
            </a:r>
            <a:r>
              <a:rPr spc="-60"/>
              <a:t> </a:t>
            </a:r>
            <a:r>
              <a:rPr spc="-40" smtClean="0"/>
              <a:t>ENGINEERING</a:t>
            </a:r>
            <a:r>
              <a:rPr lang="en-US" spc="-40" dirty="0" smtClean="0"/>
              <a:t> </a:t>
            </a:r>
            <a:r>
              <a:rPr spc="-40" smtClean="0"/>
              <a:t>&amp;</a:t>
            </a:r>
            <a:r>
              <a:rPr spc="-85" smtClean="0"/>
              <a:t> </a:t>
            </a:r>
            <a:r>
              <a:rPr spc="-10" dirty="0"/>
              <a:t>TECHNOLOGY</a:t>
            </a:r>
          </a:p>
        </p:txBody>
      </p:sp>
      <p:pic>
        <p:nvPicPr>
          <p:cNvPr id="11" name="Picture 10" descr="TEH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5999" y="1676400"/>
            <a:ext cx="8001001" cy="4495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67386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METHODOLOGY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-6095" y="0"/>
            <a:ext cx="12197715" cy="1015365"/>
            <a:chOff x="-6095" y="0"/>
            <a:chExt cx="12197715" cy="1015365"/>
          </a:xfrm>
        </p:grpSpPr>
        <p:sp>
          <p:nvSpPr>
            <p:cNvPr id="4" name="object 4"/>
            <p:cNvSpPr/>
            <p:nvPr/>
          </p:nvSpPr>
          <p:spPr>
            <a:xfrm>
              <a:off x="0" y="963169"/>
              <a:ext cx="12185650" cy="45720"/>
            </a:xfrm>
            <a:custGeom>
              <a:avLst/>
              <a:gdLst/>
              <a:ahLst/>
              <a:cxnLst/>
              <a:rect l="l" t="t" r="r" b="b"/>
              <a:pathLst>
                <a:path w="12185650" h="45719">
                  <a:moveTo>
                    <a:pt x="12185396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12185396" y="45718"/>
                  </a:lnTo>
                  <a:lnTo>
                    <a:pt x="12185396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963167"/>
              <a:ext cx="12185650" cy="45720"/>
            </a:xfrm>
            <a:custGeom>
              <a:avLst/>
              <a:gdLst/>
              <a:ahLst/>
              <a:cxnLst/>
              <a:rect l="l" t="t" r="r" b="b"/>
              <a:pathLst>
                <a:path w="12185650" h="45719">
                  <a:moveTo>
                    <a:pt x="0" y="45720"/>
                  </a:moveTo>
                  <a:lnTo>
                    <a:pt x="12185396" y="45720"/>
                  </a:lnTo>
                  <a:lnTo>
                    <a:pt x="12185396" y="0"/>
                  </a:lnTo>
                  <a:lnTo>
                    <a:pt x="0" y="0"/>
                  </a:lnTo>
                </a:path>
              </a:pathLst>
            </a:custGeom>
            <a:ln w="12192">
              <a:solidFill>
                <a:srgbClr val="00AC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31296" y="0"/>
              <a:ext cx="972311" cy="923544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761187" y="1487376"/>
            <a:ext cx="2803525" cy="3863975"/>
          </a:xfrm>
          <a:prstGeom prst="rect">
            <a:avLst/>
          </a:prstGeom>
        </p:spPr>
        <p:txBody>
          <a:bodyPr vert="horz" wrap="square" lIns="0" tIns="1517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95"/>
              </a:spcBef>
            </a:pPr>
            <a:r>
              <a:rPr sz="1600" b="1" spc="-10" dirty="0">
                <a:latin typeface="Times New Roman"/>
                <a:cs typeface="Times New Roman"/>
              </a:rPr>
              <a:t>HARDWARE</a:t>
            </a:r>
            <a:r>
              <a:rPr sz="1600" b="1" spc="-150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COMPONENTS:</a:t>
            </a:r>
            <a:endParaRPr sz="16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1105"/>
              </a:spcBef>
              <a:buFont typeface="Arial MT"/>
              <a:buChar char="•"/>
              <a:tabLst>
                <a:tab pos="299085" algn="l"/>
              </a:tabLst>
            </a:pPr>
            <a:r>
              <a:rPr sz="1600" spc="-10" dirty="0">
                <a:latin typeface="Times New Roman"/>
                <a:cs typeface="Times New Roman"/>
              </a:rPr>
              <a:t>Solar</a:t>
            </a:r>
            <a:r>
              <a:rPr sz="1600" spc="-7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Panel</a:t>
            </a:r>
            <a:endParaRPr sz="16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1110"/>
              </a:spcBef>
              <a:buFont typeface="Arial MT"/>
              <a:buChar char="•"/>
              <a:tabLst>
                <a:tab pos="299085" algn="l"/>
              </a:tabLst>
            </a:pPr>
            <a:r>
              <a:rPr sz="1600" spc="-10" dirty="0">
                <a:latin typeface="Times New Roman"/>
                <a:cs typeface="Times New Roman"/>
              </a:rPr>
              <a:t>Microcontroller</a:t>
            </a:r>
            <a:endParaRPr sz="16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1105"/>
              </a:spcBef>
              <a:buFont typeface="Arial MT"/>
              <a:buChar char="•"/>
              <a:tabLst>
                <a:tab pos="299085" algn="l"/>
              </a:tabLst>
            </a:pPr>
            <a:r>
              <a:rPr sz="1600" dirty="0">
                <a:latin typeface="Times New Roman"/>
                <a:cs typeface="Times New Roman"/>
              </a:rPr>
              <a:t>LDR</a:t>
            </a:r>
            <a:r>
              <a:rPr sz="1600" spc="-9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Sensor</a:t>
            </a:r>
            <a:endParaRPr sz="16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1105"/>
              </a:spcBef>
              <a:buFont typeface="Arial MT"/>
              <a:buChar char="•"/>
              <a:tabLst>
                <a:tab pos="299085" algn="l"/>
              </a:tabLst>
            </a:pPr>
            <a:r>
              <a:rPr sz="1600" spc="-10" dirty="0">
                <a:latin typeface="Times New Roman"/>
                <a:cs typeface="Times New Roman"/>
              </a:rPr>
              <a:t>Current</a:t>
            </a:r>
            <a:r>
              <a:rPr sz="1600" spc="-12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Sensor</a:t>
            </a:r>
            <a:endParaRPr sz="16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1105"/>
              </a:spcBef>
              <a:buFont typeface="Arial MT"/>
              <a:buChar char="•"/>
              <a:tabLst>
                <a:tab pos="299085" algn="l"/>
              </a:tabLst>
            </a:pPr>
            <a:r>
              <a:rPr sz="1600" spc="-10" dirty="0">
                <a:latin typeface="Times New Roman"/>
                <a:cs typeface="Times New Roman"/>
              </a:rPr>
              <a:t>Voltage</a:t>
            </a:r>
            <a:r>
              <a:rPr sz="1600" spc="-9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Sensor</a:t>
            </a:r>
            <a:endParaRPr sz="16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1080"/>
              </a:spcBef>
              <a:buFont typeface="Arial MT"/>
              <a:buChar char="•"/>
              <a:tabLst>
                <a:tab pos="299085" algn="l"/>
              </a:tabLst>
            </a:pPr>
            <a:r>
              <a:rPr sz="1600" spc="-25" dirty="0">
                <a:latin typeface="Times New Roman"/>
                <a:cs typeface="Times New Roman"/>
              </a:rPr>
              <a:t>LCD</a:t>
            </a:r>
            <a:endParaRPr sz="16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1105"/>
              </a:spcBef>
              <a:buFont typeface="Arial MT"/>
              <a:buChar char="•"/>
              <a:tabLst>
                <a:tab pos="299085" algn="l"/>
              </a:tabLst>
            </a:pPr>
            <a:r>
              <a:rPr sz="1600" spc="-10" dirty="0">
                <a:latin typeface="Times New Roman"/>
                <a:cs typeface="Times New Roman"/>
              </a:rPr>
              <a:t>Servo</a:t>
            </a:r>
            <a:r>
              <a:rPr sz="1600" spc="-6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Motor</a:t>
            </a:r>
            <a:endParaRPr sz="16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1105"/>
              </a:spcBef>
              <a:buFont typeface="Arial MT"/>
              <a:buChar char="•"/>
              <a:tabLst>
                <a:tab pos="299085" algn="l"/>
              </a:tabLst>
            </a:pPr>
            <a:r>
              <a:rPr sz="1600" dirty="0">
                <a:latin typeface="Times New Roman"/>
                <a:cs typeface="Times New Roman"/>
              </a:rPr>
              <a:t>DHT</a:t>
            </a:r>
            <a:r>
              <a:rPr sz="1600" spc="-6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11</a:t>
            </a:r>
            <a:endParaRPr sz="16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1105"/>
              </a:spcBef>
              <a:buFont typeface="Arial MT"/>
              <a:buChar char="•"/>
              <a:tabLst>
                <a:tab pos="299085" algn="l"/>
              </a:tabLst>
            </a:pPr>
            <a:r>
              <a:rPr lang="en-US" sz="1600" spc="-10" dirty="0" smtClean="0">
                <a:latin typeface="Times New Roman"/>
                <a:cs typeface="Times New Roman"/>
              </a:rPr>
              <a:t>LED</a:t>
            </a:r>
            <a:endParaRPr sz="160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692640" y="1563624"/>
            <a:ext cx="2118359" cy="166116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04944" y="3844319"/>
            <a:ext cx="2130552" cy="137872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211568" y="1926335"/>
            <a:ext cx="1750379" cy="96012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685047" y="1862327"/>
            <a:ext cx="1749280" cy="1170432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165847" y="3998976"/>
            <a:ext cx="2042159" cy="103631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954768" y="3800822"/>
            <a:ext cx="1607458" cy="1460867"/>
          </a:xfrm>
          <a:prstGeom prst="rect">
            <a:avLst/>
          </a:prstGeom>
        </p:spPr>
      </p:pic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65"/>
              </a:lnSpc>
            </a:pPr>
            <a:r>
              <a:rPr spc="-60" dirty="0"/>
              <a:t>Department </a:t>
            </a:r>
            <a:r>
              <a:rPr dirty="0"/>
              <a:t>of</a:t>
            </a:r>
            <a:r>
              <a:rPr spc="85" dirty="0"/>
              <a:t> </a:t>
            </a:r>
            <a:r>
              <a:rPr spc="-25" dirty="0"/>
              <a:t>ECE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dt" sz="half" idx="6"/>
          </p:nvPr>
        </p:nvSpPr>
        <p:spPr>
          <a:xfrm>
            <a:off x="4982083" y="6423299"/>
            <a:ext cx="6371717" cy="3060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75"/>
              </a:lnSpc>
            </a:pPr>
            <a:r>
              <a:rPr dirty="0"/>
              <a:t>S.E.A</a:t>
            </a:r>
            <a:r>
              <a:rPr spc="295" dirty="0"/>
              <a:t> </a:t>
            </a:r>
            <a:r>
              <a:rPr spc="-35" dirty="0"/>
              <a:t>COLLEGE</a:t>
            </a:r>
            <a:r>
              <a:rPr spc="-20" dirty="0"/>
              <a:t> </a:t>
            </a:r>
            <a:r>
              <a:rPr/>
              <a:t>OF</a:t>
            </a:r>
            <a:r>
              <a:rPr spc="-60"/>
              <a:t> </a:t>
            </a:r>
            <a:r>
              <a:rPr spc="-40" smtClean="0"/>
              <a:t>ENGINEERING</a:t>
            </a:r>
            <a:r>
              <a:rPr lang="en-US" spc="-40" dirty="0" smtClean="0"/>
              <a:t> </a:t>
            </a:r>
            <a:r>
              <a:rPr spc="-40" smtClean="0"/>
              <a:t>&amp;</a:t>
            </a:r>
            <a:r>
              <a:rPr spc="-85" smtClean="0"/>
              <a:t> </a:t>
            </a:r>
            <a:r>
              <a:rPr spc="-10" dirty="0"/>
              <a:t>TECHNOLOGY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OBSERVATION</a:t>
            </a:r>
            <a:r>
              <a:rPr spc="-170" dirty="0"/>
              <a:t> </a:t>
            </a:r>
            <a:r>
              <a:rPr dirty="0"/>
              <a:t>&amp;</a:t>
            </a:r>
            <a:r>
              <a:rPr spc="-135" dirty="0"/>
              <a:t> </a:t>
            </a:r>
            <a:r>
              <a:rPr spc="-10" dirty="0"/>
              <a:t>RESULT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-6095" y="0"/>
            <a:ext cx="12197715" cy="1015365"/>
            <a:chOff x="-6095" y="0"/>
            <a:chExt cx="12197715" cy="1015365"/>
          </a:xfrm>
        </p:grpSpPr>
        <p:sp>
          <p:nvSpPr>
            <p:cNvPr id="4" name="object 4"/>
            <p:cNvSpPr/>
            <p:nvPr/>
          </p:nvSpPr>
          <p:spPr>
            <a:xfrm>
              <a:off x="0" y="963169"/>
              <a:ext cx="12185650" cy="45720"/>
            </a:xfrm>
            <a:custGeom>
              <a:avLst/>
              <a:gdLst/>
              <a:ahLst/>
              <a:cxnLst/>
              <a:rect l="l" t="t" r="r" b="b"/>
              <a:pathLst>
                <a:path w="12185650" h="45719">
                  <a:moveTo>
                    <a:pt x="12185396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12185396" y="45718"/>
                  </a:lnTo>
                  <a:lnTo>
                    <a:pt x="12185396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963167"/>
              <a:ext cx="12185650" cy="45720"/>
            </a:xfrm>
            <a:custGeom>
              <a:avLst/>
              <a:gdLst/>
              <a:ahLst/>
              <a:cxnLst/>
              <a:rect l="l" t="t" r="r" b="b"/>
              <a:pathLst>
                <a:path w="12185650" h="45719">
                  <a:moveTo>
                    <a:pt x="0" y="45720"/>
                  </a:moveTo>
                  <a:lnTo>
                    <a:pt x="12185396" y="45720"/>
                  </a:lnTo>
                  <a:lnTo>
                    <a:pt x="12185396" y="0"/>
                  </a:lnTo>
                  <a:lnTo>
                    <a:pt x="0" y="0"/>
                  </a:lnTo>
                </a:path>
              </a:pathLst>
            </a:custGeom>
            <a:ln w="12192">
              <a:solidFill>
                <a:srgbClr val="00AC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31296" y="0"/>
              <a:ext cx="972311" cy="923544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65"/>
              </a:lnSpc>
            </a:pPr>
            <a:r>
              <a:rPr spc="-60" dirty="0">
                <a:latin typeface="Times New Roman" pitchFamily="18" charset="0"/>
                <a:cs typeface="Times New Roman" pitchFamily="18" charset="0"/>
              </a:rPr>
              <a:t>Department 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of</a:t>
            </a:r>
            <a:r>
              <a:rPr spc="8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pc="-25" dirty="0">
                <a:latin typeface="Times New Roman" pitchFamily="18" charset="0"/>
                <a:cs typeface="Times New Roman" pitchFamily="18" charset="0"/>
              </a:rPr>
              <a:t>ECE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xfrm>
            <a:off x="4982083" y="6423299"/>
            <a:ext cx="6447917" cy="3060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75"/>
              </a:lnSpc>
            </a:pPr>
            <a:r>
              <a:rPr dirty="0"/>
              <a:t>S.E.A</a:t>
            </a:r>
            <a:r>
              <a:rPr spc="295" dirty="0"/>
              <a:t> </a:t>
            </a:r>
            <a:r>
              <a:rPr spc="-35" dirty="0"/>
              <a:t>COLLEGE</a:t>
            </a:r>
            <a:r>
              <a:rPr spc="-20" dirty="0"/>
              <a:t> </a:t>
            </a:r>
            <a:r>
              <a:rPr/>
              <a:t>OF</a:t>
            </a:r>
            <a:r>
              <a:rPr spc="-60"/>
              <a:t> </a:t>
            </a:r>
            <a:r>
              <a:rPr spc="-40" smtClean="0"/>
              <a:t>ENGINEERING</a:t>
            </a:r>
            <a:r>
              <a:rPr lang="en-US" spc="-40" dirty="0" smtClean="0"/>
              <a:t> </a:t>
            </a:r>
            <a:r>
              <a:rPr spc="-40" smtClean="0"/>
              <a:t>&amp;</a:t>
            </a:r>
            <a:r>
              <a:rPr spc="-85" smtClean="0"/>
              <a:t> </a:t>
            </a:r>
            <a:r>
              <a:rPr spc="-10" dirty="0"/>
              <a:t>TECHNOLOGY</a:t>
            </a:r>
          </a:p>
        </p:txBody>
      </p:sp>
      <p:pic>
        <p:nvPicPr>
          <p:cNvPr id="10" name="Picture 9" descr="sola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400" y="1524000"/>
            <a:ext cx="7239000" cy="4267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17500">
              <a:lnSpc>
                <a:spcPct val="100000"/>
              </a:lnSpc>
              <a:spcBef>
                <a:spcPts val="105"/>
              </a:spcBef>
            </a:pPr>
            <a:r>
              <a:rPr dirty="0"/>
              <a:t>OBSERVATION</a:t>
            </a:r>
            <a:r>
              <a:rPr spc="-140" dirty="0"/>
              <a:t> </a:t>
            </a:r>
            <a:r>
              <a:rPr dirty="0"/>
              <a:t>&amp;</a:t>
            </a:r>
            <a:r>
              <a:rPr spc="-135" dirty="0"/>
              <a:t> </a:t>
            </a:r>
            <a:r>
              <a:rPr spc="-10" dirty="0"/>
              <a:t>RESULT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-6095" y="0"/>
            <a:ext cx="12197715" cy="1015365"/>
            <a:chOff x="-6095" y="0"/>
            <a:chExt cx="12197715" cy="1015365"/>
          </a:xfrm>
        </p:grpSpPr>
        <p:sp>
          <p:nvSpPr>
            <p:cNvPr id="4" name="object 4"/>
            <p:cNvSpPr/>
            <p:nvPr/>
          </p:nvSpPr>
          <p:spPr>
            <a:xfrm>
              <a:off x="0" y="963169"/>
              <a:ext cx="12185650" cy="45720"/>
            </a:xfrm>
            <a:custGeom>
              <a:avLst/>
              <a:gdLst/>
              <a:ahLst/>
              <a:cxnLst/>
              <a:rect l="l" t="t" r="r" b="b"/>
              <a:pathLst>
                <a:path w="12185650" h="45719">
                  <a:moveTo>
                    <a:pt x="12185396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12185396" y="45718"/>
                  </a:lnTo>
                  <a:lnTo>
                    <a:pt x="12185396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963167"/>
              <a:ext cx="12185650" cy="45720"/>
            </a:xfrm>
            <a:custGeom>
              <a:avLst/>
              <a:gdLst/>
              <a:ahLst/>
              <a:cxnLst/>
              <a:rect l="l" t="t" r="r" b="b"/>
              <a:pathLst>
                <a:path w="12185650" h="45719">
                  <a:moveTo>
                    <a:pt x="0" y="45720"/>
                  </a:moveTo>
                  <a:lnTo>
                    <a:pt x="12185396" y="45720"/>
                  </a:lnTo>
                  <a:lnTo>
                    <a:pt x="12185396" y="0"/>
                  </a:lnTo>
                  <a:lnTo>
                    <a:pt x="0" y="0"/>
                  </a:lnTo>
                </a:path>
              </a:pathLst>
            </a:custGeom>
            <a:ln w="12192">
              <a:solidFill>
                <a:srgbClr val="00AC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31296" y="0"/>
              <a:ext cx="972311" cy="923544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90800" y="1676400"/>
            <a:ext cx="7391400" cy="4114800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65"/>
              </a:lnSpc>
            </a:pPr>
            <a:r>
              <a:rPr spc="-60" dirty="0"/>
              <a:t>Department </a:t>
            </a:r>
            <a:r>
              <a:rPr dirty="0"/>
              <a:t>of</a:t>
            </a:r>
            <a:r>
              <a:rPr spc="85" dirty="0"/>
              <a:t> </a:t>
            </a:r>
            <a:r>
              <a:rPr spc="-25" dirty="0"/>
              <a:t>ECE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xfrm>
            <a:off x="4982083" y="6423299"/>
            <a:ext cx="6371717" cy="3060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75"/>
              </a:lnSpc>
            </a:pPr>
            <a:r>
              <a:rPr dirty="0"/>
              <a:t>S.E.A</a:t>
            </a:r>
            <a:r>
              <a:rPr spc="295" dirty="0"/>
              <a:t> </a:t>
            </a:r>
            <a:r>
              <a:rPr spc="-35" dirty="0"/>
              <a:t>COLLEGE</a:t>
            </a:r>
            <a:r>
              <a:rPr spc="-20" dirty="0"/>
              <a:t> </a:t>
            </a:r>
            <a:r>
              <a:rPr/>
              <a:t>OF</a:t>
            </a:r>
            <a:r>
              <a:rPr spc="-60"/>
              <a:t> </a:t>
            </a:r>
            <a:r>
              <a:rPr spc="-40" smtClean="0"/>
              <a:t>ENGINEERING</a:t>
            </a:r>
            <a:r>
              <a:rPr lang="en-US" spc="-40" dirty="0" smtClean="0"/>
              <a:t> </a:t>
            </a:r>
            <a:r>
              <a:rPr spc="-40" smtClean="0"/>
              <a:t>&amp;</a:t>
            </a:r>
            <a:r>
              <a:rPr spc="-85" smtClean="0"/>
              <a:t> </a:t>
            </a:r>
            <a:r>
              <a:rPr spc="-10" dirty="0"/>
              <a:t>TECHNOLOGY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11150">
              <a:lnSpc>
                <a:spcPct val="100000"/>
              </a:lnSpc>
              <a:spcBef>
                <a:spcPts val="105"/>
              </a:spcBef>
            </a:pPr>
            <a:r>
              <a:rPr dirty="0"/>
              <a:t>OBSERVATION</a:t>
            </a:r>
            <a:r>
              <a:rPr spc="-120" dirty="0"/>
              <a:t> </a:t>
            </a:r>
            <a:r>
              <a:rPr dirty="0"/>
              <a:t>&amp;</a:t>
            </a:r>
            <a:r>
              <a:rPr spc="-114" dirty="0"/>
              <a:t> </a:t>
            </a:r>
            <a:r>
              <a:rPr spc="-10" dirty="0"/>
              <a:t>RESULT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-6095" y="0"/>
            <a:ext cx="12197715" cy="1015365"/>
            <a:chOff x="-6095" y="0"/>
            <a:chExt cx="12197715" cy="1015365"/>
          </a:xfrm>
        </p:grpSpPr>
        <p:sp>
          <p:nvSpPr>
            <p:cNvPr id="4" name="object 4"/>
            <p:cNvSpPr/>
            <p:nvPr/>
          </p:nvSpPr>
          <p:spPr>
            <a:xfrm>
              <a:off x="0" y="963169"/>
              <a:ext cx="12185650" cy="45720"/>
            </a:xfrm>
            <a:custGeom>
              <a:avLst/>
              <a:gdLst/>
              <a:ahLst/>
              <a:cxnLst/>
              <a:rect l="l" t="t" r="r" b="b"/>
              <a:pathLst>
                <a:path w="12185650" h="45719">
                  <a:moveTo>
                    <a:pt x="12185396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12185396" y="45718"/>
                  </a:lnTo>
                  <a:lnTo>
                    <a:pt x="12185396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963167"/>
              <a:ext cx="12185650" cy="45720"/>
            </a:xfrm>
            <a:custGeom>
              <a:avLst/>
              <a:gdLst/>
              <a:ahLst/>
              <a:cxnLst/>
              <a:rect l="l" t="t" r="r" b="b"/>
              <a:pathLst>
                <a:path w="12185650" h="45719">
                  <a:moveTo>
                    <a:pt x="0" y="45720"/>
                  </a:moveTo>
                  <a:lnTo>
                    <a:pt x="12185396" y="45720"/>
                  </a:lnTo>
                  <a:lnTo>
                    <a:pt x="12185396" y="0"/>
                  </a:lnTo>
                  <a:lnTo>
                    <a:pt x="0" y="0"/>
                  </a:lnTo>
                </a:path>
              </a:pathLst>
            </a:custGeom>
            <a:ln w="12192">
              <a:solidFill>
                <a:srgbClr val="00AC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31296" y="0"/>
              <a:ext cx="972311" cy="923544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14600" y="1615439"/>
            <a:ext cx="7772400" cy="3947160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65"/>
              </a:lnSpc>
            </a:pPr>
            <a:r>
              <a:rPr spc="-60" dirty="0"/>
              <a:t>Department </a:t>
            </a:r>
            <a:r>
              <a:rPr dirty="0"/>
              <a:t>of</a:t>
            </a:r>
            <a:r>
              <a:rPr spc="85" dirty="0"/>
              <a:t> </a:t>
            </a:r>
            <a:r>
              <a:rPr spc="-25" dirty="0"/>
              <a:t>ECE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xfrm>
            <a:off x="4982083" y="6423299"/>
            <a:ext cx="6524117" cy="3060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75"/>
              </a:lnSpc>
            </a:pPr>
            <a:r>
              <a:rPr dirty="0"/>
              <a:t>S.E.A</a:t>
            </a:r>
            <a:r>
              <a:rPr spc="295" dirty="0"/>
              <a:t> </a:t>
            </a:r>
            <a:r>
              <a:rPr spc="-35" dirty="0"/>
              <a:t>COLLEGE</a:t>
            </a:r>
            <a:r>
              <a:rPr spc="-20" dirty="0"/>
              <a:t> </a:t>
            </a:r>
            <a:r>
              <a:rPr/>
              <a:t>OF</a:t>
            </a:r>
            <a:r>
              <a:rPr spc="-60"/>
              <a:t> </a:t>
            </a:r>
            <a:r>
              <a:rPr spc="-40" smtClean="0"/>
              <a:t>ENGINEERING</a:t>
            </a:r>
            <a:r>
              <a:rPr lang="en-US" spc="-40" dirty="0" smtClean="0"/>
              <a:t> </a:t>
            </a:r>
            <a:r>
              <a:rPr spc="-40" smtClean="0"/>
              <a:t>&amp;</a:t>
            </a:r>
            <a:r>
              <a:rPr spc="-85" smtClean="0"/>
              <a:t> </a:t>
            </a:r>
            <a:r>
              <a:rPr spc="-10" dirty="0"/>
              <a:t>TECHNOLOGY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17500">
              <a:lnSpc>
                <a:spcPct val="100000"/>
              </a:lnSpc>
              <a:spcBef>
                <a:spcPts val="105"/>
              </a:spcBef>
            </a:pPr>
            <a:r>
              <a:rPr dirty="0"/>
              <a:t>OBSERVATION</a:t>
            </a:r>
            <a:r>
              <a:rPr spc="-140" dirty="0"/>
              <a:t> </a:t>
            </a:r>
            <a:r>
              <a:rPr dirty="0"/>
              <a:t>&amp;</a:t>
            </a:r>
            <a:r>
              <a:rPr spc="-135" dirty="0"/>
              <a:t> </a:t>
            </a:r>
            <a:r>
              <a:rPr spc="-10" dirty="0"/>
              <a:t>RESULT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-6095" y="0"/>
            <a:ext cx="12197715" cy="1015365"/>
            <a:chOff x="-6095" y="0"/>
            <a:chExt cx="12197715" cy="1015365"/>
          </a:xfrm>
        </p:grpSpPr>
        <p:sp>
          <p:nvSpPr>
            <p:cNvPr id="4" name="object 4"/>
            <p:cNvSpPr/>
            <p:nvPr/>
          </p:nvSpPr>
          <p:spPr>
            <a:xfrm>
              <a:off x="0" y="963169"/>
              <a:ext cx="12185650" cy="45720"/>
            </a:xfrm>
            <a:custGeom>
              <a:avLst/>
              <a:gdLst/>
              <a:ahLst/>
              <a:cxnLst/>
              <a:rect l="l" t="t" r="r" b="b"/>
              <a:pathLst>
                <a:path w="12185650" h="45719">
                  <a:moveTo>
                    <a:pt x="12185396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12185396" y="45718"/>
                  </a:lnTo>
                  <a:lnTo>
                    <a:pt x="12185396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963167"/>
              <a:ext cx="12185650" cy="45720"/>
            </a:xfrm>
            <a:custGeom>
              <a:avLst/>
              <a:gdLst/>
              <a:ahLst/>
              <a:cxnLst/>
              <a:rect l="l" t="t" r="r" b="b"/>
              <a:pathLst>
                <a:path w="12185650" h="45719">
                  <a:moveTo>
                    <a:pt x="0" y="45720"/>
                  </a:moveTo>
                  <a:lnTo>
                    <a:pt x="12185396" y="45720"/>
                  </a:lnTo>
                  <a:lnTo>
                    <a:pt x="12185396" y="0"/>
                  </a:lnTo>
                  <a:lnTo>
                    <a:pt x="0" y="0"/>
                  </a:lnTo>
                </a:path>
              </a:pathLst>
            </a:custGeom>
            <a:ln w="12192">
              <a:solidFill>
                <a:srgbClr val="00AC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31296" y="0"/>
              <a:ext cx="972311" cy="923544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43911" y="1676400"/>
            <a:ext cx="7562088" cy="3962400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65"/>
              </a:lnSpc>
            </a:pPr>
            <a:r>
              <a:rPr spc="-60" dirty="0"/>
              <a:t>Department </a:t>
            </a:r>
            <a:r>
              <a:rPr dirty="0"/>
              <a:t>of</a:t>
            </a:r>
            <a:r>
              <a:rPr spc="85" dirty="0"/>
              <a:t> </a:t>
            </a:r>
            <a:r>
              <a:rPr spc="-25" dirty="0"/>
              <a:t>ECE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xfrm>
            <a:off x="4982083" y="6423299"/>
            <a:ext cx="6219317" cy="3060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75"/>
              </a:lnSpc>
            </a:pPr>
            <a:r>
              <a:rPr dirty="0"/>
              <a:t>S.E.A</a:t>
            </a:r>
            <a:r>
              <a:rPr spc="295" dirty="0"/>
              <a:t> </a:t>
            </a:r>
            <a:r>
              <a:rPr spc="-35" dirty="0"/>
              <a:t>COLLEGE</a:t>
            </a:r>
            <a:r>
              <a:rPr spc="-20" dirty="0"/>
              <a:t> </a:t>
            </a:r>
            <a:r>
              <a:rPr/>
              <a:t>OF</a:t>
            </a:r>
            <a:r>
              <a:rPr spc="-60"/>
              <a:t> </a:t>
            </a:r>
            <a:r>
              <a:rPr spc="-40" smtClean="0"/>
              <a:t>ENGINEERING</a:t>
            </a:r>
            <a:r>
              <a:rPr lang="en-US" spc="-40" dirty="0" smtClean="0"/>
              <a:t> </a:t>
            </a:r>
            <a:r>
              <a:rPr spc="-40" smtClean="0"/>
              <a:t>&amp;</a:t>
            </a:r>
            <a:r>
              <a:rPr spc="-85" smtClean="0"/>
              <a:t> </a:t>
            </a:r>
            <a:r>
              <a:rPr spc="-10" dirty="0"/>
              <a:t>TECHNOLOGY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OBSERVATION</a:t>
            </a:r>
            <a:r>
              <a:rPr spc="-170" dirty="0"/>
              <a:t> </a:t>
            </a:r>
            <a:r>
              <a:rPr dirty="0"/>
              <a:t>&amp;</a:t>
            </a:r>
            <a:r>
              <a:rPr spc="-135" dirty="0"/>
              <a:t> </a:t>
            </a:r>
            <a:r>
              <a:rPr spc="-10" dirty="0"/>
              <a:t>RESULT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-6095" y="0"/>
            <a:ext cx="12197715" cy="1015365"/>
            <a:chOff x="-6095" y="0"/>
            <a:chExt cx="12197715" cy="1015365"/>
          </a:xfrm>
        </p:grpSpPr>
        <p:sp>
          <p:nvSpPr>
            <p:cNvPr id="4" name="object 4"/>
            <p:cNvSpPr/>
            <p:nvPr/>
          </p:nvSpPr>
          <p:spPr>
            <a:xfrm>
              <a:off x="0" y="963169"/>
              <a:ext cx="12185650" cy="45720"/>
            </a:xfrm>
            <a:custGeom>
              <a:avLst/>
              <a:gdLst/>
              <a:ahLst/>
              <a:cxnLst/>
              <a:rect l="l" t="t" r="r" b="b"/>
              <a:pathLst>
                <a:path w="12185650" h="45719">
                  <a:moveTo>
                    <a:pt x="12185396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12185396" y="45718"/>
                  </a:lnTo>
                  <a:lnTo>
                    <a:pt x="12185396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963167"/>
              <a:ext cx="12185650" cy="45720"/>
            </a:xfrm>
            <a:custGeom>
              <a:avLst/>
              <a:gdLst/>
              <a:ahLst/>
              <a:cxnLst/>
              <a:rect l="l" t="t" r="r" b="b"/>
              <a:pathLst>
                <a:path w="12185650" h="45719">
                  <a:moveTo>
                    <a:pt x="0" y="45720"/>
                  </a:moveTo>
                  <a:lnTo>
                    <a:pt x="12185396" y="45720"/>
                  </a:lnTo>
                  <a:lnTo>
                    <a:pt x="12185396" y="0"/>
                  </a:lnTo>
                  <a:lnTo>
                    <a:pt x="0" y="0"/>
                  </a:lnTo>
                </a:path>
              </a:pathLst>
            </a:custGeom>
            <a:ln w="12192">
              <a:solidFill>
                <a:srgbClr val="00AC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31296" y="0"/>
              <a:ext cx="972311" cy="923544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65"/>
              </a:lnSpc>
            </a:pPr>
            <a:r>
              <a:rPr spc="-60" dirty="0"/>
              <a:t>Department </a:t>
            </a:r>
            <a:r>
              <a:rPr dirty="0"/>
              <a:t>of</a:t>
            </a:r>
            <a:r>
              <a:rPr spc="85" dirty="0"/>
              <a:t> </a:t>
            </a:r>
            <a:r>
              <a:rPr spc="-25" dirty="0"/>
              <a:t>ECE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xfrm>
            <a:off x="4982083" y="6423299"/>
            <a:ext cx="6524117" cy="3060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75"/>
              </a:lnSpc>
            </a:pPr>
            <a:r>
              <a:rPr dirty="0"/>
              <a:t>S.E.A</a:t>
            </a:r>
            <a:r>
              <a:rPr spc="295" dirty="0"/>
              <a:t> </a:t>
            </a:r>
            <a:r>
              <a:rPr spc="-35" dirty="0"/>
              <a:t>COLLEGE</a:t>
            </a:r>
            <a:r>
              <a:rPr spc="-20" dirty="0"/>
              <a:t> </a:t>
            </a:r>
            <a:r>
              <a:rPr/>
              <a:t>OF</a:t>
            </a:r>
            <a:r>
              <a:rPr spc="-60"/>
              <a:t> </a:t>
            </a:r>
            <a:r>
              <a:rPr spc="-40" smtClean="0"/>
              <a:t>ENGINEERING</a:t>
            </a:r>
            <a:r>
              <a:rPr lang="en-US" spc="-40" dirty="0" smtClean="0"/>
              <a:t> </a:t>
            </a:r>
            <a:r>
              <a:rPr spc="-40" smtClean="0"/>
              <a:t>&amp;</a:t>
            </a:r>
            <a:r>
              <a:rPr spc="-85" smtClean="0"/>
              <a:t> </a:t>
            </a:r>
            <a:r>
              <a:rPr spc="-10" dirty="0"/>
              <a:t>TECHNOLOGY</a:t>
            </a:r>
          </a:p>
        </p:txBody>
      </p:sp>
      <p:pic>
        <p:nvPicPr>
          <p:cNvPr id="13" name="Picture 12" descr="graph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400" y="1371599"/>
            <a:ext cx="7162800" cy="464820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37392" y="0"/>
            <a:ext cx="972311" cy="92354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11167" y="3203448"/>
            <a:ext cx="4197095" cy="515112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992626" y="2842716"/>
            <a:ext cx="418528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spc="-10" dirty="0">
                <a:solidFill>
                  <a:srgbClr val="0D1F39"/>
                </a:solidFill>
              </a:rPr>
              <a:t>THANK</a:t>
            </a:r>
            <a:r>
              <a:rPr sz="5400" spc="-305" dirty="0">
                <a:solidFill>
                  <a:srgbClr val="0D1F39"/>
                </a:solidFill>
              </a:rPr>
              <a:t> </a:t>
            </a:r>
            <a:r>
              <a:rPr sz="5400" spc="-25" dirty="0">
                <a:solidFill>
                  <a:srgbClr val="0D1F39"/>
                </a:solidFill>
              </a:rPr>
              <a:t>YOU</a:t>
            </a:r>
            <a:endParaRPr sz="540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65"/>
              </a:lnSpc>
            </a:pPr>
            <a:r>
              <a:rPr spc="-60" dirty="0"/>
              <a:t>Department </a:t>
            </a:r>
            <a:r>
              <a:rPr dirty="0"/>
              <a:t>of</a:t>
            </a:r>
            <a:r>
              <a:rPr spc="85" dirty="0"/>
              <a:t> </a:t>
            </a:r>
            <a:r>
              <a:rPr spc="-25" dirty="0"/>
              <a:t>ECE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xfrm>
            <a:off x="4982083" y="6423299"/>
            <a:ext cx="6295517" cy="3060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75"/>
              </a:lnSpc>
            </a:pPr>
            <a:r>
              <a:rPr dirty="0"/>
              <a:t>S.E.A</a:t>
            </a:r>
            <a:r>
              <a:rPr spc="295" dirty="0"/>
              <a:t> </a:t>
            </a:r>
            <a:r>
              <a:rPr spc="-35" dirty="0"/>
              <a:t>COLLEGE</a:t>
            </a:r>
            <a:r>
              <a:rPr spc="-20" dirty="0"/>
              <a:t> </a:t>
            </a:r>
            <a:r>
              <a:rPr/>
              <a:t>OF</a:t>
            </a:r>
            <a:r>
              <a:rPr spc="-60"/>
              <a:t> </a:t>
            </a:r>
            <a:r>
              <a:rPr spc="-40" smtClean="0"/>
              <a:t>ENGINEERING</a:t>
            </a:r>
            <a:r>
              <a:rPr lang="en-US" spc="-40" dirty="0" smtClean="0"/>
              <a:t> </a:t>
            </a:r>
            <a:r>
              <a:rPr spc="-40" smtClean="0"/>
              <a:t>&amp;</a:t>
            </a:r>
            <a:r>
              <a:rPr spc="-85" smtClean="0"/>
              <a:t> </a:t>
            </a:r>
            <a:r>
              <a:rPr spc="-10" dirty="0"/>
              <a:t>TECHNOLOGY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173</TotalTime>
  <Words>575</Words>
  <Application>Microsoft Office PowerPoint</Application>
  <PresentationFormat>Custom</PresentationFormat>
  <Paragraphs>104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S.E.A COLLEGE OF ENGINEERING &amp; TECHNOLOGY</vt:lpstr>
      <vt:lpstr>CONTENT</vt:lpstr>
      <vt:lpstr>PROBLEM STATEMENT</vt:lpstr>
      <vt:lpstr>INTRODUCTION</vt:lpstr>
      <vt:lpstr>LITERATURE REVIEW</vt:lpstr>
      <vt:lpstr>METHODOLOGY</vt:lpstr>
      <vt:lpstr>METHODOLOGY</vt:lpstr>
      <vt:lpstr>OBSERVATION &amp; RESULT</vt:lpstr>
      <vt:lpstr>OBSERVATION &amp; RESULT</vt:lpstr>
      <vt:lpstr>OBSERVATION &amp; RESULT</vt:lpstr>
      <vt:lpstr>OBSERVATION &amp; RESULT</vt:lpstr>
      <vt:lpstr>OBSERVATION &amp; RESULT</vt:lpstr>
      <vt:lpstr>THANK YOU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S.E.A COLLEGE OF ENGINEERING &amp; TECHNOLOGY</dc:title>
  <dc:creator>WIN11 HOME 24H2</dc:creator>
  <cp:lastModifiedBy>WIN11 HOME 24H2</cp:lastModifiedBy>
  <cp:revision>23</cp:revision>
  <dcterms:created xsi:type="dcterms:W3CDTF">2025-10-02T09:24:07Z</dcterms:created>
  <dcterms:modified xsi:type="dcterms:W3CDTF">2025-11-15T04:30:24Z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2025-09-28T00:00:00Z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2025-10-02T00:00:00Z</vt:filetime>
  </property>
  <property fmtid="{D5CDD505-2E9C-101B-9397-08002B2CF9AE}" pid="5" name="Producer">
    <vt:lpwstr>www.ilovepdf.com</vt:lpwstr>
  </property>
</Properties>
</file>